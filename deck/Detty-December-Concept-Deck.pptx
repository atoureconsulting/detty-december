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draft. Concept is not yet signed off — see slide 2. Nothing in this deck should go to sponsors or talent until the flags on slide 8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open the Olivia call with. Do not move to itinerary until the right column is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 date and venue are real and verified. Draft = we intend it but nothing is booked. Open = not yet decided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sponsor asks for demographic data, the honest answer is that we are collecting media kits — do not present estimated follower counts as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1-4 are blocking — nothing outbound until they are answered. Items 5-7 are factual corrections we can make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 full reality-series production inside a 16-day, three-country, festival-hopping schedule with the crew currently on the sheet is the highest-risk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confirming which of these the client assumes is ours versus theirs — particularly security hire and foundation programme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428"/>
        </a:solidFill>
      </p:bgPr>
    </p:bg>
    <p:spTree>
      <p:nvGrpSpPr>
        <p:cNvPr id="1" name=""/>
        <p:cNvGrpSpPr/>
        <p:nvPr/>
      </p:nvGrpSpPr>
      <p:grpSpPr>
        <a:xfrm>
          <a:off x="0" y="0"/>
          <a:ext cx="0" cy="0"/>
          <a:chOff x="0" y="0"/>
          <a:chExt cx="0" cy="0"/>
        </a:xfrm>
      </p:grpSpPr>
      <p:sp>
        <p:nvSpPr>
          <p:cNvPr id="2" name="Shape 0"/>
          <p:cNvSpPr/>
          <p:nvPr/>
        </p:nvSpPr>
        <p:spPr>
          <a:xfrm>
            <a:off x="8366760" y="502920"/>
            <a:ext cx="4206240" cy="4206240"/>
          </a:xfrm>
          <a:prstGeom prst="ellipse">
            <a:avLst/>
          </a:prstGeom>
          <a:ln w="15875">
            <a:solidFill>
              <a:srgbClr val="4A3320"/>
            </a:solidFill>
            <a:prstDash val="solid"/>
          </a:ln>
        </p:spPr>
      </p:sp>
      <p:sp>
        <p:nvSpPr>
          <p:cNvPr id="3" name="Shape 1"/>
          <p:cNvSpPr/>
          <p:nvPr/>
        </p:nvSpPr>
        <p:spPr>
          <a:xfrm>
            <a:off x="9189720" y="1325880"/>
            <a:ext cx="4206240" cy="4206240"/>
          </a:xfrm>
          <a:prstGeom prst="ellipse">
            <a:avLst/>
          </a:prstGeom>
          <a:ln w="15875">
            <a:solidFill>
              <a:srgbClr val="4A3320"/>
            </a:solidFill>
            <a:prstDash val="solid"/>
          </a:ln>
        </p:spPr>
      </p:sp>
      <p:sp>
        <p:nvSpPr>
          <p:cNvPr id="4" name="Shape 2"/>
          <p:cNvSpPr/>
          <p:nvPr/>
        </p:nvSpPr>
        <p:spPr>
          <a:xfrm>
            <a:off x="7543800" y="1325880"/>
            <a:ext cx="4206240" cy="4206240"/>
          </a:xfrm>
          <a:prstGeom prst="ellipse">
            <a:avLst/>
          </a:prstGeom>
          <a:ln w="15875">
            <a:solidFill>
              <a:srgbClr val="4A3320"/>
            </a:solidFill>
            <a:prstDash val="solid"/>
          </a:ln>
        </p:spPr>
      </p:sp>
      <p:sp>
        <p:nvSpPr>
          <p:cNvPr id="5" name="Text 3"/>
          <p:cNvSpPr/>
          <p:nvPr/>
        </p:nvSpPr>
        <p:spPr>
          <a:xfrm>
            <a:off x="566928" y="1783080"/>
            <a:ext cx="7498080" cy="274320"/>
          </a:xfrm>
          <a:prstGeom prst="rect">
            <a:avLst/>
          </a:prstGeom>
          <a:noFill/>
          <a:ln/>
        </p:spPr>
        <p:txBody>
          <a:bodyPr wrap="square" lIns="0" tIns="0" rIns="0" bIns="0" rtlCol="0" anchor="ctr"/>
          <a:lstStyle/>
          <a:p>
            <a:pPr indent="0" marL="0">
              <a:buNone/>
            </a:pPr>
            <a:r>
              <a:rPr lang="en-US" sz="1100" b="1" spc="320" kern="0" dirty="0">
                <a:solidFill>
                  <a:srgbClr val="C9992B"/>
                </a:solidFill>
                <a:latin typeface="Calibri" pitchFamily="34" charset="0"/>
                <a:ea typeface="Calibri" pitchFamily="34" charset="-122"/>
                <a:cs typeface="Calibri" pitchFamily="34" charset="-120"/>
              </a:rPr>
              <a:t>TOUR CONCEPT DECK  ·  WORKING DRAFT</a:t>
            </a:r>
            <a:endParaRPr lang="en-US" sz="1100" dirty="0"/>
          </a:p>
        </p:txBody>
      </p:sp>
      <p:sp>
        <p:nvSpPr>
          <p:cNvPr id="6" name="Text 4"/>
          <p:cNvSpPr/>
          <p:nvPr/>
        </p:nvSpPr>
        <p:spPr>
          <a:xfrm>
            <a:off x="566928" y="2121408"/>
            <a:ext cx="7498080" cy="1828800"/>
          </a:xfrm>
          <a:prstGeom prst="rect">
            <a:avLst/>
          </a:prstGeom>
          <a:noFill/>
          <a:ln/>
        </p:spPr>
        <p:txBody>
          <a:bodyPr wrap="square" lIns="0" tIns="0" rIns="0" bIns="0" rtlCol="0" anchor="ctr"/>
          <a:lstStyle/>
          <a:p>
            <a:pPr indent="0" marL="0">
              <a:lnSpc>
                <a:spcPts val="5200"/>
              </a:lnSpc>
              <a:buNone/>
            </a:pPr>
            <a:r>
              <a:rPr lang="en-US" sz="5400" b="1" dirty="0">
                <a:solidFill>
                  <a:srgbClr val="FFFFFF"/>
                </a:solidFill>
                <a:latin typeface="Cambria" pitchFamily="34" charset="0"/>
                <a:ea typeface="Cambria" pitchFamily="34" charset="-122"/>
                <a:cs typeface="Cambria" pitchFamily="34" charset="-120"/>
              </a:rPr>
              <a:t>DETTY</a:t>
            </a:r>
            <a:endParaRPr lang="en-US" sz="5400" dirty="0"/>
          </a:p>
          <a:p>
            <a:pPr indent="0" marL="0">
              <a:lnSpc>
                <a:spcPts val="5200"/>
              </a:lnSpc>
              <a:buNone/>
            </a:pPr>
            <a:r>
              <a:rPr lang="en-US" sz="5400" b="1" dirty="0">
                <a:solidFill>
                  <a:srgbClr val="FFFFFF"/>
                </a:solidFill>
                <a:latin typeface="Cambria" pitchFamily="34" charset="0"/>
                <a:ea typeface="Cambria" pitchFamily="34" charset="-122"/>
                <a:cs typeface="Cambria" pitchFamily="34" charset="-120"/>
              </a:rPr>
              <a:t>DECEMBER</a:t>
            </a:r>
            <a:endParaRPr lang="en-US" sz="5400" dirty="0"/>
          </a:p>
        </p:txBody>
      </p:sp>
      <p:sp>
        <p:nvSpPr>
          <p:cNvPr id="7" name="Text 5"/>
          <p:cNvSpPr/>
          <p:nvPr/>
        </p:nvSpPr>
        <p:spPr>
          <a:xfrm>
            <a:off x="566928" y="4114800"/>
            <a:ext cx="6766560" cy="365760"/>
          </a:xfrm>
          <a:prstGeom prst="rect">
            <a:avLst/>
          </a:prstGeom>
          <a:noFill/>
          <a:ln/>
        </p:spPr>
        <p:txBody>
          <a:bodyPr wrap="square" lIns="0" tIns="0" rIns="0" bIns="0" rtlCol="0" anchor="ctr"/>
          <a:lstStyle/>
          <a:p>
            <a:pPr indent="0" marL="0">
              <a:buNone/>
            </a:pPr>
            <a:r>
              <a:rPr lang="en-US" sz="1550" dirty="0">
                <a:solidFill>
                  <a:srgbClr val="E4D6DE"/>
                </a:solidFill>
                <a:latin typeface="Calibri" pitchFamily="34" charset="0"/>
                <a:ea typeface="Calibri" pitchFamily="34" charset="-122"/>
                <a:cs typeface="Calibri" pitchFamily="34" charset="-120"/>
              </a:rPr>
              <a:t>Fourteen titleholders and public figures, three countries, one December.</a:t>
            </a:r>
            <a:endParaRPr lang="en-US" sz="1550" dirty="0"/>
          </a:p>
        </p:txBody>
      </p:sp>
      <p:sp>
        <p:nvSpPr>
          <p:cNvPr id="8" name="Text 6"/>
          <p:cNvSpPr/>
          <p:nvPr/>
        </p:nvSpPr>
        <p:spPr>
          <a:xfrm>
            <a:off x="566928" y="4617720"/>
            <a:ext cx="6766560" cy="274320"/>
          </a:xfrm>
          <a:prstGeom prst="rect">
            <a:avLst/>
          </a:prstGeom>
          <a:noFill/>
          <a:ln/>
        </p:spPr>
        <p:txBody>
          <a:bodyPr wrap="square" lIns="0" tIns="0" rIns="0" bIns="0" rtlCol="0" anchor="ctr"/>
          <a:lstStyle/>
          <a:p>
            <a:pPr indent="0" marL="0">
              <a:buNone/>
            </a:pPr>
            <a:r>
              <a:rPr lang="en-US" sz="1200" b="1" spc="140" kern="0" dirty="0">
                <a:solidFill>
                  <a:srgbClr val="E8C766"/>
                </a:solidFill>
                <a:latin typeface="Calibri" pitchFamily="34" charset="0"/>
                <a:ea typeface="Calibri" pitchFamily="34" charset="-122"/>
                <a:cs typeface="Calibri" pitchFamily="34" charset="-120"/>
              </a:rPr>
              <a:t>26 DECEMBER  –  10 JANUARY   (estimative)</a:t>
            </a:r>
            <a:endParaRPr lang="en-US" sz="1200" dirty="0"/>
          </a:p>
        </p:txBody>
      </p:sp>
      <p:sp>
        <p:nvSpPr>
          <p:cNvPr id="9" name="Shape 7"/>
          <p:cNvSpPr/>
          <p:nvPr/>
        </p:nvSpPr>
        <p:spPr>
          <a:xfrm>
            <a:off x="566928" y="5660136"/>
            <a:ext cx="118872" cy="118872"/>
          </a:xfrm>
          <a:prstGeom prst="ellipse">
            <a:avLst/>
          </a:prstGeom>
          <a:solidFill>
            <a:srgbClr val="C25E2A"/>
          </a:solidFill>
          <a:ln/>
        </p:spPr>
      </p:sp>
      <p:sp>
        <p:nvSpPr>
          <p:cNvPr id="10" name="Text 8"/>
          <p:cNvSpPr/>
          <p:nvPr/>
        </p:nvSpPr>
        <p:spPr>
          <a:xfrm>
            <a:off x="786384" y="5559552"/>
            <a:ext cx="1737360" cy="310896"/>
          </a:xfrm>
          <a:prstGeom prst="rect">
            <a:avLst/>
          </a:prstGeom>
          <a:noFill/>
          <a:ln/>
        </p:spPr>
        <p:txBody>
          <a:bodyPr wrap="square" lIns="0" tIns="0" rIns="0" bIns="0" rtlCol="0" anchor="ctr"/>
          <a:lstStyle/>
          <a:p>
            <a:pPr indent="0" marL="0">
              <a:buNone/>
            </a:pPr>
            <a:r>
              <a:rPr lang="en-US" sz="1050" b="1" spc="120" kern="0" dirty="0">
                <a:solidFill>
                  <a:srgbClr val="C9B6C2"/>
                </a:solidFill>
                <a:latin typeface="Calibri" pitchFamily="34" charset="0"/>
                <a:ea typeface="Calibri" pitchFamily="34" charset="-122"/>
                <a:cs typeface="Calibri" pitchFamily="34" charset="-120"/>
              </a:rPr>
              <a:t>CÔTE D'IVOIRE</a:t>
            </a:r>
            <a:endParaRPr lang="en-US" sz="1050" dirty="0"/>
          </a:p>
        </p:txBody>
      </p:sp>
      <p:sp>
        <p:nvSpPr>
          <p:cNvPr id="11" name="Shape 9"/>
          <p:cNvSpPr/>
          <p:nvPr/>
        </p:nvSpPr>
        <p:spPr>
          <a:xfrm>
            <a:off x="2532888" y="5660136"/>
            <a:ext cx="118872" cy="118872"/>
          </a:xfrm>
          <a:prstGeom prst="ellipse">
            <a:avLst/>
          </a:prstGeom>
          <a:solidFill>
            <a:srgbClr val="A32C2C"/>
          </a:solidFill>
          <a:ln/>
        </p:spPr>
      </p:sp>
      <p:sp>
        <p:nvSpPr>
          <p:cNvPr id="12" name="Text 10"/>
          <p:cNvSpPr/>
          <p:nvPr/>
        </p:nvSpPr>
        <p:spPr>
          <a:xfrm>
            <a:off x="2752344" y="5559552"/>
            <a:ext cx="1737360" cy="310896"/>
          </a:xfrm>
          <a:prstGeom prst="rect">
            <a:avLst/>
          </a:prstGeom>
          <a:noFill/>
          <a:ln/>
        </p:spPr>
        <p:txBody>
          <a:bodyPr wrap="square" lIns="0" tIns="0" rIns="0" bIns="0" rtlCol="0" anchor="ctr"/>
          <a:lstStyle/>
          <a:p>
            <a:pPr indent="0" marL="0">
              <a:buNone/>
            </a:pPr>
            <a:r>
              <a:rPr lang="en-US" sz="1050" b="1" spc="120" kern="0" dirty="0">
                <a:solidFill>
                  <a:srgbClr val="C9B6C2"/>
                </a:solidFill>
                <a:latin typeface="Calibri" pitchFamily="34" charset="0"/>
                <a:ea typeface="Calibri" pitchFamily="34" charset="-122"/>
                <a:cs typeface="Calibri" pitchFamily="34" charset="-120"/>
              </a:rPr>
              <a:t>GHANA</a:t>
            </a:r>
            <a:endParaRPr lang="en-US" sz="1050" dirty="0"/>
          </a:p>
        </p:txBody>
      </p:sp>
      <p:sp>
        <p:nvSpPr>
          <p:cNvPr id="13" name="Shape 11"/>
          <p:cNvSpPr/>
          <p:nvPr/>
        </p:nvSpPr>
        <p:spPr>
          <a:xfrm>
            <a:off x="4498848" y="5660136"/>
            <a:ext cx="118872" cy="118872"/>
          </a:xfrm>
          <a:prstGeom prst="ellipse">
            <a:avLst/>
          </a:prstGeom>
          <a:solidFill>
            <a:srgbClr val="2E6B3E"/>
          </a:solidFill>
          <a:ln/>
        </p:spPr>
      </p:sp>
      <p:sp>
        <p:nvSpPr>
          <p:cNvPr id="14" name="Text 12"/>
          <p:cNvSpPr/>
          <p:nvPr/>
        </p:nvSpPr>
        <p:spPr>
          <a:xfrm>
            <a:off x="4718304" y="5559552"/>
            <a:ext cx="1737360" cy="310896"/>
          </a:xfrm>
          <a:prstGeom prst="rect">
            <a:avLst/>
          </a:prstGeom>
          <a:noFill/>
          <a:ln/>
        </p:spPr>
        <p:txBody>
          <a:bodyPr wrap="square" lIns="0" tIns="0" rIns="0" bIns="0" rtlCol="0" anchor="ctr"/>
          <a:lstStyle/>
          <a:p>
            <a:pPr indent="0" marL="0">
              <a:buNone/>
            </a:pPr>
            <a:r>
              <a:rPr lang="en-US" sz="1050" b="1" spc="120" kern="0" dirty="0">
                <a:solidFill>
                  <a:srgbClr val="C9B6C2"/>
                </a:solidFill>
                <a:latin typeface="Calibri" pitchFamily="34" charset="0"/>
                <a:ea typeface="Calibri" pitchFamily="34" charset="-122"/>
                <a:cs typeface="Calibri" pitchFamily="34" charset="-120"/>
              </a:rPr>
              <a:t>NIGERIA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WHERE WE ACTUALLY ARE</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The concept is not yet locked</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Everything below the line needs answering with Olivia before this deck goes anywhere near a sponsor or a talent call.</a:t>
            </a:r>
            <a:endParaRPr lang="en-US" sz="1300" dirty="0"/>
          </a:p>
        </p:txBody>
      </p:sp>
      <p:sp>
        <p:nvSpPr>
          <p:cNvPr id="5" name="Text 3"/>
          <p:cNvSpPr/>
          <p:nvPr/>
        </p:nvSpPr>
        <p:spPr>
          <a:xfrm>
            <a:off x="566928" y="1847088"/>
            <a:ext cx="5372100" cy="237744"/>
          </a:xfrm>
          <a:prstGeom prst="rect">
            <a:avLst/>
          </a:prstGeom>
          <a:noFill/>
          <a:ln/>
        </p:spPr>
        <p:txBody>
          <a:bodyPr wrap="square" lIns="0" tIns="0" rIns="0" bIns="0" rtlCol="0" anchor="ctr"/>
          <a:lstStyle/>
          <a:p>
            <a:pPr indent="0" marL="0">
              <a:buNone/>
            </a:pPr>
            <a:r>
              <a:rPr lang="en-US" sz="1000" b="1" spc="200" kern="0" dirty="0">
                <a:solidFill>
                  <a:srgbClr val="2E6B3E"/>
                </a:solidFill>
                <a:latin typeface="Calibri" pitchFamily="34" charset="0"/>
                <a:ea typeface="Calibri" pitchFamily="34" charset="-122"/>
                <a:cs typeface="Calibri" pitchFamily="34" charset="-120"/>
              </a:rPr>
              <a:t>ESTABLISHED</a:t>
            </a:r>
            <a:endParaRPr lang="en-US" sz="1000" dirty="0"/>
          </a:p>
        </p:txBody>
      </p:sp>
      <p:sp>
        <p:nvSpPr>
          <p:cNvPr id="6" name="Shape 4"/>
          <p:cNvSpPr/>
          <p:nvPr/>
        </p:nvSpPr>
        <p:spPr>
          <a:xfrm>
            <a:off x="566928" y="2139696"/>
            <a:ext cx="5372100" cy="3310128"/>
          </a:xfrm>
          <a:prstGeom prst="roundRect">
            <a:avLst>
              <a:gd name="adj" fmla="val 1657"/>
            </a:avLst>
          </a:prstGeom>
          <a:solidFill>
            <a:srgbClr val="F6F2F5"/>
          </a:solidFill>
          <a:ln w="9525">
            <a:solidFill>
              <a:srgbClr val="E4DDE2"/>
            </a:solidFill>
            <a:prstDash val="solid"/>
          </a:ln>
        </p:spPr>
      </p:sp>
      <p:sp>
        <p:nvSpPr>
          <p:cNvPr id="7" name="Text 5"/>
          <p:cNvSpPr/>
          <p:nvPr/>
        </p:nvSpPr>
        <p:spPr>
          <a:xfrm>
            <a:off x="822960" y="2322576"/>
            <a:ext cx="4860036" cy="2962656"/>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Three host countries — Côte d'Ivoire, Ghana, Nigeria</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Arrival in Abidjan 26 Dec; Mother Africa Festival 27–28 Dec is the opening anchor</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Roughly 26 Dec – 10 Jan, ending in Nigeria</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All-female lineup of titleholders and public figures</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A social-impact / foundation action in each country</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Private jet air legs, vans and Escalades on the ground</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No plus-ones — talent travel solo</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Individual calls with each woman before anything is signed</a:t>
            </a:r>
            <a:endParaRPr lang="en-US" sz="1150" dirty="0"/>
          </a:p>
        </p:txBody>
      </p:sp>
      <p:sp>
        <p:nvSpPr>
          <p:cNvPr id="8" name="Text 6"/>
          <p:cNvSpPr/>
          <p:nvPr/>
        </p:nvSpPr>
        <p:spPr>
          <a:xfrm>
            <a:off x="6249924" y="1847088"/>
            <a:ext cx="5372100" cy="237744"/>
          </a:xfrm>
          <a:prstGeom prst="rect">
            <a:avLst/>
          </a:prstGeom>
          <a:noFill/>
          <a:ln/>
        </p:spPr>
        <p:txBody>
          <a:bodyPr wrap="square" lIns="0" tIns="0" rIns="0" bIns="0" rtlCol="0" anchor="ctr"/>
          <a:lstStyle/>
          <a:p>
            <a:pPr indent="0" marL="0">
              <a:buNone/>
            </a:pPr>
            <a:r>
              <a:rPr lang="en-US" sz="1000" b="1" spc="200" kern="0" dirty="0">
                <a:solidFill>
                  <a:srgbClr val="9C2C2C"/>
                </a:solidFill>
                <a:latin typeface="Calibri" pitchFamily="34" charset="0"/>
                <a:ea typeface="Calibri" pitchFamily="34" charset="-122"/>
                <a:cs typeface="Calibri" pitchFamily="34" charset="-120"/>
              </a:rPr>
              <a:t>OPEN — DECIDE WITH OLIVIA</a:t>
            </a:r>
            <a:endParaRPr lang="en-US" sz="1000" dirty="0"/>
          </a:p>
        </p:txBody>
      </p:sp>
      <p:sp>
        <p:nvSpPr>
          <p:cNvPr id="9" name="Shape 7"/>
          <p:cNvSpPr/>
          <p:nvPr/>
        </p:nvSpPr>
        <p:spPr>
          <a:xfrm>
            <a:off x="6249924" y="2139696"/>
            <a:ext cx="5372100" cy="3310128"/>
          </a:xfrm>
          <a:prstGeom prst="roundRect">
            <a:avLst>
              <a:gd name="adj" fmla="val 1657"/>
            </a:avLst>
          </a:prstGeom>
          <a:solidFill>
            <a:srgbClr val="FBF1F1"/>
          </a:solidFill>
          <a:ln w="9525">
            <a:solidFill>
              <a:srgbClr val="E8CFCF"/>
            </a:solidFill>
            <a:prstDash val="solid"/>
          </a:ln>
        </p:spPr>
      </p:sp>
      <p:sp>
        <p:nvSpPr>
          <p:cNvPr id="10" name="Text 8"/>
          <p:cNvSpPr/>
          <p:nvPr/>
        </p:nvSpPr>
        <p:spPr>
          <a:xfrm>
            <a:off x="6505956" y="2322576"/>
            <a:ext cx="4860036" cy="2962656"/>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The core purpose — celebration, tourism promotion, philanthropy, or a commercial content property?</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Whose trip is this — Olivia and Dorcas's initiative we execute, or our concept they host?</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What “Minister of Enjoyment” means in practice: curation, sign-off, public fronting?</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Who funds it, and is our fee flat or tied to sponsorship?</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Is the foundation piece core identity or a secondary activation?</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Ghana cities and dates — the one fully open leg</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Does NYE land in Abidjan or Lagos?</a:t>
            </a:r>
            <a:endParaRPr lang="en-US" sz="1150" dirty="0"/>
          </a:p>
          <a:p>
            <a:pPr marL="342900" indent="-342900">
              <a:lnSpc>
                <a:spcPts val="1500"/>
              </a:lnSpc>
              <a:spcAft>
                <a:spcPts val="800"/>
              </a:spcAft>
              <a:buSzPct val="100000"/>
              <a:buChar char="•"/>
            </a:pPr>
            <a:r>
              <a:rPr lang="en-US" sz="1150" dirty="0">
                <a:solidFill>
                  <a:srgbClr val="3A3038"/>
                </a:solidFill>
                <a:latin typeface="Calibri" pitchFamily="34" charset="0"/>
                <a:ea typeface="Calibri" pitchFamily="34" charset="-122"/>
                <a:cs typeface="Calibri" pitchFamily="34" charset="-120"/>
              </a:rPr>
              <a:t>Is this a documented trip, or a media property that travels?</a:t>
            </a:r>
            <a:endParaRPr lang="en-US" sz="1150" dirty="0"/>
          </a:p>
        </p:txBody>
      </p:sp>
      <p:sp>
        <p:nvSpPr>
          <p:cNvPr id="11" name="Text 9"/>
          <p:cNvSpPr/>
          <p:nvPr/>
        </p:nvSpPr>
        <p:spPr>
          <a:xfrm>
            <a:off x="566928" y="5705856"/>
            <a:ext cx="11055096" cy="365760"/>
          </a:xfrm>
          <a:prstGeom prst="rect">
            <a:avLst/>
          </a:prstGeom>
          <a:noFill/>
          <a:ln/>
        </p:spPr>
        <p:txBody>
          <a:bodyPr wrap="square" lIns="0" tIns="0" rIns="0" bIns="0" rtlCol="0" anchor="ctr"/>
          <a:lstStyle/>
          <a:p>
            <a:pPr indent="0" marL="0">
              <a:buNone/>
            </a:pPr>
            <a:r>
              <a:rPr lang="en-US" sz="1150" i="1" dirty="0">
                <a:solidFill>
                  <a:srgbClr val="7A6E76"/>
                </a:solidFill>
                <a:latin typeface="Calibri" pitchFamily="34" charset="0"/>
                <a:ea typeface="Calibri" pitchFamily="34" charset="-122"/>
                <a:cs typeface="Calibri" pitchFamily="34" charset="-120"/>
              </a:rPr>
              <a:t>Until the left column and the right column agree, the itinerary, the sponsor deck and the talent contracts are all built on an assumption.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SHAPE OF THE TOUR</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Route and approximate dates</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Sixteen days, three countries, two confirmed anchors. Ghana is the open leg.</a:t>
            </a:r>
            <a:endParaRPr lang="en-US" sz="1300" dirty="0"/>
          </a:p>
        </p:txBody>
      </p:sp>
      <p:sp>
        <p:nvSpPr>
          <p:cNvPr id="5" name="Shape 3"/>
          <p:cNvSpPr/>
          <p:nvPr/>
        </p:nvSpPr>
        <p:spPr>
          <a:xfrm>
            <a:off x="2139696" y="2286000"/>
            <a:ext cx="0" cy="841248"/>
          </a:xfrm>
          <a:prstGeom prst="line">
            <a:avLst/>
          </a:prstGeom>
          <a:noFill/>
          <a:ln w="15875">
            <a:solidFill>
              <a:srgbClr val="E4DDE2"/>
            </a:solidFill>
            <a:prstDash val="solid"/>
          </a:ln>
        </p:spPr>
      </p:sp>
      <p:sp>
        <p:nvSpPr>
          <p:cNvPr id="6" name="Text 4"/>
          <p:cNvSpPr/>
          <p:nvPr/>
        </p:nvSpPr>
        <p:spPr>
          <a:xfrm>
            <a:off x="566928" y="2029968"/>
            <a:ext cx="1371600" cy="274320"/>
          </a:xfrm>
          <a:prstGeom prst="rect">
            <a:avLst/>
          </a:prstGeom>
          <a:noFill/>
          <a:ln/>
        </p:spPr>
        <p:txBody>
          <a:bodyPr wrap="square" lIns="0" tIns="0" rIns="0" bIns="0" rtlCol="0" anchor="ctr"/>
          <a:lstStyle/>
          <a:p>
            <a:pPr algn="r" indent="0" marL="0">
              <a:buNone/>
            </a:pPr>
            <a:r>
              <a:rPr lang="en-US" sz="1100" b="1" spc="80" kern="0" dirty="0">
                <a:solidFill>
                  <a:srgbClr val="C25E2A"/>
                </a:solidFill>
                <a:latin typeface="Calibri" pitchFamily="34" charset="0"/>
                <a:ea typeface="Calibri" pitchFamily="34" charset="-122"/>
                <a:cs typeface="Calibri" pitchFamily="34" charset="-120"/>
              </a:rPr>
              <a:t>DEC 26</a:t>
            </a:r>
            <a:endParaRPr lang="en-US" sz="1100" dirty="0"/>
          </a:p>
        </p:txBody>
      </p:sp>
      <p:sp>
        <p:nvSpPr>
          <p:cNvPr id="7" name="Shape 5"/>
          <p:cNvSpPr/>
          <p:nvPr/>
        </p:nvSpPr>
        <p:spPr>
          <a:xfrm>
            <a:off x="2057400" y="2075688"/>
            <a:ext cx="173736" cy="173736"/>
          </a:xfrm>
          <a:prstGeom prst="ellipse">
            <a:avLst/>
          </a:prstGeom>
          <a:solidFill>
            <a:srgbClr val="C25E2A"/>
          </a:solidFill>
          <a:ln/>
        </p:spPr>
      </p:sp>
      <p:sp>
        <p:nvSpPr>
          <p:cNvPr id="8" name="Text 6"/>
          <p:cNvSpPr/>
          <p:nvPr/>
        </p:nvSpPr>
        <p:spPr>
          <a:xfrm>
            <a:off x="2414016" y="1975104"/>
            <a:ext cx="3657600" cy="292608"/>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Arrival — Abidjan</a:t>
            </a:r>
            <a:endParaRPr lang="en-US" sz="1500" dirty="0"/>
          </a:p>
        </p:txBody>
      </p:sp>
      <p:sp>
        <p:nvSpPr>
          <p:cNvPr id="9" name="Text 7"/>
          <p:cNvSpPr/>
          <p:nvPr/>
        </p:nvSpPr>
        <p:spPr>
          <a:xfrm>
            <a:off x="6190488" y="1993392"/>
            <a:ext cx="4379976" cy="621792"/>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Everyone lands. Rest day before the festival.</a:t>
            </a:r>
            <a:endParaRPr lang="en-US" sz="1050" dirty="0"/>
          </a:p>
        </p:txBody>
      </p:sp>
      <p:sp>
        <p:nvSpPr>
          <p:cNvPr id="10" name="Shape 8"/>
          <p:cNvSpPr/>
          <p:nvPr/>
        </p:nvSpPr>
        <p:spPr>
          <a:xfrm>
            <a:off x="10689336" y="2011680"/>
            <a:ext cx="738835" cy="219456"/>
          </a:xfrm>
          <a:prstGeom prst="roundRect">
            <a:avLst>
              <a:gd name="adj" fmla="val 50000"/>
            </a:avLst>
          </a:prstGeom>
          <a:solidFill>
            <a:srgbClr val="2E6B3E">
              <a:alpha val="12000"/>
            </a:srgbClr>
          </a:solidFill>
          <a:ln w="9525">
            <a:solidFill>
              <a:srgbClr val="2E6B3E"/>
            </a:solidFill>
            <a:prstDash val="solid"/>
          </a:ln>
        </p:spPr>
      </p:sp>
      <p:sp>
        <p:nvSpPr>
          <p:cNvPr id="11" name="Text 9"/>
          <p:cNvSpPr/>
          <p:nvPr/>
        </p:nvSpPr>
        <p:spPr>
          <a:xfrm>
            <a:off x="10689336" y="2011680"/>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12" name="Shape 10"/>
          <p:cNvSpPr/>
          <p:nvPr/>
        </p:nvSpPr>
        <p:spPr>
          <a:xfrm>
            <a:off x="2139696" y="3127248"/>
            <a:ext cx="0" cy="841248"/>
          </a:xfrm>
          <a:prstGeom prst="line">
            <a:avLst/>
          </a:prstGeom>
          <a:noFill/>
          <a:ln w="15875">
            <a:solidFill>
              <a:srgbClr val="E4DDE2"/>
            </a:solidFill>
            <a:prstDash val="solid"/>
          </a:ln>
        </p:spPr>
      </p:sp>
      <p:sp>
        <p:nvSpPr>
          <p:cNvPr id="13" name="Text 11"/>
          <p:cNvSpPr/>
          <p:nvPr/>
        </p:nvSpPr>
        <p:spPr>
          <a:xfrm>
            <a:off x="566928" y="2871216"/>
            <a:ext cx="1371600" cy="274320"/>
          </a:xfrm>
          <a:prstGeom prst="rect">
            <a:avLst/>
          </a:prstGeom>
          <a:noFill/>
          <a:ln/>
        </p:spPr>
        <p:txBody>
          <a:bodyPr wrap="square" lIns="0" tIns="0" rIns="0" bIns="0" rtlCol="0" anchor="ctr"/>
          <a:lstStyle/>
          <a:p>
            <a:pPr algn="r" indent="0" marL="0">
              <a:buNone/>
            </a:pPr>
            <a:r>
              <a:rPr lang="en-US" sz="1100" b="1" spc="80" kern="0" dirty="0">
                <a:solidFill>
                  <a:srgbClr val="C25E2A"/>
                </a:solidFill>
                <a:latin typeface="Calibri" pitchFamily="34" charset="0"/>
                <a:ea typeface="Calibri" pitchFamily="34" charset="-122"/>
                <a:cs typeface="Calibri" pitchFamily="34" charset="-120"/>
              </a:rPr>
              <a:t>DEC 27–28</a:t>
            </a:r>
            <a:endParaRPr lang="en-US" sz="1100" dirty="0"/>
          </a:p>
        </p:txBody>
      </p:sp>
      <p:sp>
        <p:nvSpPr>
          <p:cNvPr id="14" name="Shape 12"/>
          <p:cNvSpPr/>
          <p:nvPr/>
        </p:nvSpPr>
        <p:spPr>
          <a:xfrm>
            <a:off x="2057400" y="2916936"/>
            <a:ext cx="173736" cy="173736"/>
          </a:xfrm>
          <a:prstGeom prst="ellipse">
            <a:avLst/>
          </a:prstGeom>
          <a:solidFill>
            <a:srgbClr val="C25E2A"/>
          </a:solidFill>
          <a:ln/>
        </p:spPr>
      </p:sp>
      <p:sp>
        <p:nvSpPr>
          <p:cNvPr id="15" name="Text 13"/>
          <p:cNvSpPr/>
          <p:nvPr/>
        </p:nvSpPr>
        <p:spPr>
          <a:xfrm>
            <a:off x="2414016" y="2816352"/>
            <a:ext cx="3657600" cy="292608"/>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Mother Africa Festival</a:t>
            </a:r>
            <a:endParaRPr lang="en-US" sz="1500" dirty="0"/>
          </a:p>
        </p:txBody>
      </p:sp>
      <p:sp>
        <p:nvSpPr>
          <p:cNvPr id="16" name="Text 14"/>
          <p:cNvSpPr/>
          <p:nvPr/>
        </p:nvSpPr>
        <p:spPr>
          <a:xfrm>
            <a:off x="6190488" y="2834640"/>
            <a:ext cx="4379976" cy="621792"/>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Marcory Zone 4. 4th edition, ~40,000 attendees. Olivia is already publicly linked to it.</a:t>
            </a:r>
            <a:endParaRPr lang="en-US" sz="1050" dirty="0"/>
          </a:p>
        </p:txBody>
      </p:sp>
      <p:sp>
        <p:nvSpPr>
          <p:cNvPr id="17" name="Shape 15"/>
          <p:cNvSpPr/>
          <p:nvPr/>
        </p:nvSpPr>
        <p:spPr>
          <a:xfrm>
            <a:off x="10689336" y="2852928"/>
            <a:ext cx="738835" cy="219456"/>
          </a:xfrm>
          <a:prstGeom prst="roundRect">
            <a:avLst>
              <a:gd name="adj" fmla="val 50000"/>
            </a:avLst>
          </a:prstGeom>
          <a:solidFill>
            <a:srgbClr val="2E6B3E">
              <a:alpha val="12000"/>
            </a:srgbClr>
          </a:solidFill>
          <a:ln w="9525">
            <a:solidFill>
              <a:srgbClr val="2E6B3E"/>
            </a:solidFill>
            <a:prstDash val="solid"/>
          </a:ln>
        </p:spPr>
      </p:sp>
      <p:sp>
        <p:nvSpPr>
          <p:cNvPr id="18" name="Text 16"/>
          <p:cNvSpPr/>
          <p:nvPr/>
        </p:nvSpPr>
        <p:spPr>
          <a:xfrm>
            <a:off x="10689336" y="2852928"/>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19" name="Shape 17"/>
          <p:cNvSpPr/>
          <p:nvPr/>
        </p:nvSpPr>
        <p:spPr>
          <a:xfrm>
            <a:off x="2139696" y="3968496"/>
            <a:ext cx="0" cy="841248"/>
          </a:xfrm>
          <a:prstGeom prst="line">
            <a:avLst/>
          </a:prstGeom>
          <a:noFill/>
          <a:ln w="15875">
            <a:solidFill>
              <a:srgbClr val="E4DDE2"/>
            </a:solidFill>
            <a:prstDash val="solid"/>
          </a:ln>
        </p:spPr>
      </p:sp>
      <p:sp>
        <p:nvSpPr>
          <p:cNvPr id="20" name="Text 18"/>
          <p:cNvSpPr/>
          <p:nvPr/>
        </p:nvSpPr>
        <p:spPr>
          <a:xfrm>
            <a:off x="566928" y="3712464"/>
            <a:ext cx="1371600" cy="274320"/>
          </a:xfrm>
          <a:prstGeom prst="rect">
            <a:avLst/>
          </a:prstGeom>
          <a:noFill/>
          <a:ln/>
        </p:spPr>
        <p:txBody>
          <a:bodyPr wrap="square" lIns="0" tIns="0" rIns="0" bIns="0" rtlCol="0" anchor="ctr"/>
          <a:lstStyle/>
          <a:p>
            <a:pPr algn="r" indent="0" marL="0">
              <a:buNone/>
            </a:pPr>
            <a:r>
              <a:rPr lang="en-US" sz="1100" b="1" spc="80" kern="0" dirty="0">
                <a:solidFill>
                  <a:srgbClr val="C25E2A"/>
                </a:solidFill>
                <a:latin typeface="Calibri" pitchFamily="34" charset="0"/>
                <a:ea typeface="Calibri" pitchFamily="34" charset="-122"/>
                <a:cs typeface="Calibri" pitchFamily="34" charset="-120"/>
              </a:rPr>
              <a:t>DEC 29–31</a:t>
            </a:r>
            <a:endParaRPr lang="en-US" sz="1100" dirty="0"/>
          </a:p>
        </p:txBody>
      </p:sp>
      <p:sp>
        <p:nvSpPr>
          <p:cNvPr id="21" name="Shape 19"/>
          <p:cNvSpPr/>
          <p:nvPr/>
        </p:nvSpPr>
        <p:spPr>
          <a:xfrm>
            <a:off x="2057400" y="3758184"/>
            <a:ext cx="173736" cy="173736"/>
          </a:xfrm>
          <a:prstGeom prst="ellipse">
            <a:avLst/>
          </a:prstGeom>
          <a:solidFill>
            <a:srgbClr val="C25E2A"/>
          </a:solidFill>
          <a:ln/>
        </p:spPr>
      </p:sp>
      <p:sp>
        <p:nvSpPr>
          <p:cNvPr id="22" name="Text 20"/>
          <p:cNvSpPr/>
          <p:nvPr/>
        </p:nvSpPr>
        <p:spPr>
          <a:xfrm>
            <a:off x="2414016" y="3657600"/>
            <a:ext cx="3657600" cy="292608"/>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Assinie · Sassandra · Yamoussoukro</a:t>
            </a:r>
            <a:endParaRPr lang="en-US" sz="1500" dirty="0"/>
          </a:p>
        </p:txBody>
      </p:sp>
      <p:sp>
        <p:nvSpPr>
          <p:cNvPr id="23" name="Text 21"/>
          <p:cNvSpPr/>
          <p:nvPr/>
        </p:nvSpPr>
        <p:spPr>
          <a:xfrm>
            <a:off x="6190488" y="3675888"/>
            <a:ext cx="4379976" cy="621792"/>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Beach and heritage legs. Abidjan has a confirmed NYE fireworks anchor if NYE stays here.</a:t>
            </a:r>
            <a:endParaRPr lang="en-US" sz="1050" dirty="0"/>
          </a:p>
        </p:txBody>
      </p:sp>
      <p:sp>
        <p:nvSpPr>
          <p:cNvPr id="24" name="Shape 22"/>
          <p:cNvSpPr/>
          <p:nvPr/>
        </p:nvSpPr>
        <p:spPr>
          <a:xfrm>
            <a:off x="10689336" y="3694176"/>
            <a:ext cx="475488" cy="219456"/>
          </a:xfrm>
          <a:prstGeom prst="roundRect">
            <a:avLst>
              <a:gd name="adj" fmla="val 50000"/>
            </a:avLst>
          </a:prstGeom>
          <a:solidFill>
            <a:srgbClr val="8A6A12">
              <a:alpha val="12000"/>
            </a:srgbClr>
          </a:solidFill>
          <a:ln w="9525">
            <a:solidFill>
              <a:srgbClr val="8A6A12"/>
            </a:solidFill>
            <a:prstDash val="solid"/>
          </a:ln>
        </p:spPr>
      </p:sp>
      <p:sp>
        <p:nvSpPr>
          <p:cNvPr id="25" name="Text 23"/>
          <p:cNvSpPr/>
          <p:nvPr/>
        </p:nvSpPr>
        <p:spPr>
          <a:xfrm>
            <a:off x="10689336" y="3694176"/>
            <a:ext cx="475488"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DRAFT</a:t>
            </a:r>
            <a:endParaRPr lang="en-US" sz="800" dirty="0"/>
          </a:p>
        </p:txBody>
      </p:sp>
      <p:sp>
        <p:nvSpPr>
          <p:cNvPr id="26" name="Shape 24"/>
          <p:cNvSpPr/>
          <p:nvPr/>
        </p:nvSpPr>
        <p:spPr>
          <a:xfrm>
            <a:off x="2139696" y="4809744"/>
            <a:ext cx="0" cy="841248"/>
          </a:xfrm>
          <a:prstGeom prst="line">
            <a:avLst/>
          </a:prstGeom>
          <a:noFill/>
          <a:ln w="15875">
            <a:solidFill>
              <a:srgbClr val="E4DDE2"/>
            </a:solidFill>
            <a:prstDash val="solid"/>
          </a:ln>
        </p:spPr>
      </p:sp>
      <p:sp>
        <p:nvSpPr>
          <p:cNvPr id="27" name="Text 25"/>
          <p:cNvSpPr/>
          <p:nvPr/>
        </p:nvSpPr>
        <p:spPr>
          <a:xfrm>
            <a:off x="566928" y="4553712"/>
            <a:ext cx="1371600" cy="274320"/>
          </a:xfrm>
          <a:prstGeom prst="rect">
            <a:avLst/>
          </a:prstGeom>
          <a:noFill/>
          <a:ln/>
        </p:spPr>
        <p:txBody>
          <a:bodyPr wrap="square" lIns="0" tIns="0" rIns="0" bIns="0" rtlCol="0" anchor="ctr"/>
          <a:lstStyle/>
          <a:p>
            <a:pPr algn="r" indent="0" marL="0">
              <a:buNone/>
            </a:pPr>
            <a:r>
              <a:rPr lang="en-US" sz="1100" b="1" spc="80" kern="0" dirty="0">
                <a:solidFill>
                  <a:srgbClr val="A32C2C"/>
                </a:solidFill>
                <a:latin typeface="Calibri" pitchFamily="34" charset="0"/>
                <a:ea typeface="Calibri" pitchFamily="34" charset="-122"/>
                <a:cs typeface="Calibri" pitchFamily="34" charset="-120"/>
              </a:rPr>
              <a:t>EARLY JAN</a:t>
            </a:r>
            <a:endParaRPr lang="en-US" sz="1100" dirty="0"/>
          </a:p>
        </p:txBody>
      </p:sp>
      <p:sp>
        <p:nvSpPr>
          <p:cNvPr id="28" name="Shape 26"/>
          <p:cNvSpPr/>
          <p:nvPr/>
        </p:nvSpPr>
        <p:spPr>
          <a:xfrm>
            <a:off x="2057400" y="4599432"/>
            <a:ext cx="173736" cy="173736"/>
          </a:xfrm>
          <a:prstGeom prst="ellipse">
            <a:avLst/>
          </a:prstGeom>
          <a:solidFill>
            <a:srgbClr val="A32C2C"/>
          </a:solidFill>
          <a:ln/>
        </p:spPr>
      </p:sp>
      <p:sp>
        <p:nvSpPr>
          <p:cNvPr id="29" name="Text 27"/>
          <p:cNvSpPr/>
          <p:nvPr/>
        </p:nvSpPr>
        <p:spPr>
          <a:xfrm>
            <a:off x="2414016" y="4498848"/>
            <a:ext cx="3657600" cy="292608"/>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Ghana</a:t>
            </a:r>
            <a:endParaRPr lang="en-US" sz="1500" dirty="0"/>
          </a:p>
        </p:txBody>
      </p:sp>
      <p:sp>
        <p:nvSpPr>
          <p:cNvPr id="30" name="Text 28"/>
          <p:cNvSpPr/>
          <p:nvPr/>
        </p:nvSpPr>
        <p:spPr>
          <a:xfrm>
            <a:off x="6190488" y="4517136"/>
            <a:ext cx="4379976" cy="621792"/>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Cities and dates not yet chosen. Season runs under the government's “December in GH” programme.</a:t>
            </a:r>
            <a:endParaRPr lang="en-US" sz="1050" dirty="0"/>
          </a:p>
        </p:txBody>
      </p:sp>
      <p:sp>
        <p:nvSpPr>
          <p:cNvPr id="31" name="Shape 29"/>
          <p:cNvSpPr/>
          <p:nvPr/>
        </p:nvSpPr>
        <p:spPr>
          <a:xfrm>
            <a:off x="10689336" y="4535424"/>
            <a:ext cx="409651" cy="219456"/>
          </a:xfrm>
          <a:prstGeom prst="roundRect">
            <a:avLst>
              <a:gd name="adj" fmla="val 50000"/>
            </a:avLst>
          </a:prstGeom>
          <a:solidFill>
            <a:srgbClr val="9C2C2C">
              <a:alpha val="12000"/>
            </a:srgbClr>
          </a:solidFill>
          <a:ln w="9525">
            <a:solidFill>
              <a:srgbClr val="9C2C2C"/>
            </a:solidFill>
            <a:prstDash val="solid"/>
          </a:ln>
        </p:spPr>
      </p:sp>
      <p:sp>
        <p:nvSpPr>
          <p:cNvPr id="32" name="Text 30"/>
          <p:cNvSpPr/>
          <p:nvPr/>
        </p:nvSpPr>
        <p:spPr>
          <a:xfrm>
            <a:off x="10689336" y="4535424"/>
            <a:ext cx="409651" cy="219456"/>
          </a:xfrm>
          <a:prstGeom prst="rect">
            <a:avLst/>
          </a:prstGeom>
          <a:noFill/>
          <a:ln/>
        </p:spPr>
        <p:txBody>
          <a:bodyPr wrap="square" lIns="0" tIns="0" rIns="0" bIns="0" rtlCol="0" anchor="ctr"/>
          <a:lstStyle/>
          <a:p>
            <a:pPr algn="ctr" indent="0" marL="0">
              <a:buNone/>
            </a:pPr>
            <a:r>
              <a:rPr lang="en-US" sz="800" b="1" spc="60" kern="0" dirty="0">
                <a:solidFill>
                  <a:srgbClr val="9C2C2C"/>
                </a:solidFill>
                <a:latin typeface="Calibri" pitchFamily="34" charset="0"/>
                <a:ea typeface="Calibri" pitchFamily="34" charset="-122"/>
                <a:cs typeface="Calibri" pitchFamily="34" charset="-120"/>
              </a:rPr>
              <a:t>OPEN</a:t>
            </a:r>
            <a:endParaRPr lang="en-US" sz="800" dirty="0"/>
          </a:p>
        </p:txBody>
      </p:sp>
      <p:sp>
        <p:nvSpPr>
          <p:cNvPr id="33" name="Text 31"/>
          <p:cNvSpPr/>
          <p:nvPr/>
        </p:nvSpPr>
        <p:spPr>
          <a:xfrm>
            <a:off x="566928" y="5394960"/>
            <a:ext cx="1371600" cy="274320"/>
          </a:xfrm>
          <a:prstGeom prst="rect">
            <a:avLst/>
          </a:prstGeom>
          <a:noFill/>
          <a:ln/>
        </p:spPr>
        <p:txBody>
          <a:bodyPr wrap="square" lIns="0" tIns="0" rIns="0" bIns="0" rtlCol="0" anchor="ctr"/>
          <a:lstStyle/>
          <a:p>
            <a:pPr algn="r" indent="0" marL="0">
              <a:buNone/>
            </a:pPr>
            <a:r>
              <a:rPr lang="en-US" sz="1100" b="1" spc="80" kern="0" dirty="0">
                <a:solidFill>
                  <a:srgbClr val="2E6B3E"/>
                </a:solidFill>
                <a:latin typeface="Calibri" pitchFamily="34" charset="0"/>
                <a:ea typeface="Calibri" pitchFamily="34" charset="-122"/>
                <a:cs typeface="Calibri" pitchFamily="34" charset="-120"/>
              </a:rPr>
              <a:t>TO JAN 10</a:t>
            </a:r>
            <a:endParaRPr lang="en-US" sz="1100" dirty="0"/>
          </a:p>
        </p:txBody>
      </p:sp>
      <p:sp>
        <p:nvSpPr>
          <p:cNvPr id="34" name="Shape 32"/>
          <p:cNvSpPr/>
          <p:nvPr/>
        </p:nvSpPr>
        <p:spPr>
          <a:xfrm>
            <a:off x="2057400" y="5440680"/>
            <a:ext cx="173736" cy="173736"/>
          </a:xfrm>
          <a:prstGeom prst="ellipse">
            <a:avLst/>
          </a:prstGeom>
          <a:solidFill>
            <a:srgbClr val="2E6B3E"/>
          </a:solidFill>
          <a:ln/>
        </p:spPr>
      </p:sp>
      <p:sp>
        <p:nvSpPr>
          <p:cNvPr id="35" name="Text 33"/>
          <p:cNvSpPr/>
          <p:nvPr/>
        </p:nvSpPr>
        <p:spPr>
          <a:xfrm>
            <a:off x="2414016" y="5340096"/>
            <a:ext cx="3657600" cy="292608"/>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Lagos and Abuja</a:t>
            </a:r>
            <a:endParaRPr lang="en-US" sz="1500" dirty="0"/>
          </a:p>
        </p:txBody>
      </p:sp>
      <p:sp>
        <p:nvSpPr>
          <p:cNvPr id="36" name="Text 34"/>
          <p:cNvSpPr/>
          <p:nvPr/>
        </p:nvSpPr>
        <p:spPr>
          <a:xfrm>
            <a:off x="6190488" y="5358384"/>
            <a:ext cx="4379976" cy="621792"/>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New Year's and a birthday. The most event-dense leg of the three.</a:t>
            </a:r>
            <a:endParaRPr lang="en-US" sz="1050" dirty="0"/>
          </a:p>
        </p:txBody>
      </p:sp>
      <p:sp>
        <p:nvSpPr>
          <p:cNvPr id="37" name="Shape 35"/>
          <p:cNvSpPr/>
          <p:nvPr/>
        </p:nvSpPr>
        <p:spPr>
          <a:xfrm>
            <a:off x="10689336" y="5376672"/>
            <a:ext cx="475488" cy="219456"/>
          </a:xfrm>
          <a:prstGeom prst="roundRect">
            <a:avLst>
              <a:gd name="adj" fmla="val 50000"/>
            </a:avLst>
          </a:prstGeom>
          <a:solidFill>
            <a:srgbClr val="8A6A12">
              <a:alpha val="12000"/>
            </a:srgbClr>
          </a:solidFill>
          <a:ln w="9525">
            <a:solidFill>
              <a:srgbClr val="8A6A12"/>
            </a:solidFill>
            <a:prstDash val="solid"/>
          </a:ln>
        </p:spPr>
      </p:sp>
      <p:sp>
        <p:nvSpPr>
          <p:cNvPr id="38" name="Text 36"/>
          <p:cNvSpPr/>
          <p:nvPr/>
        </p:nvSpPr>
        <p:spPr>
          <a:xfrm>
            <a:off x="10689336" y="5376672"/>
            <a:ext cx="475488"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DRAFT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1428"/>
        </a:solidFill>
      </p:bgPr>
    </p:bg>
    <p:spTree>
      <p:nvGrpSpPr>
        <p:cNvPr id="1" name=""/>
        <p:cNvGrpSpPr/>
        <p:nvPr/>
      </p:nvGrpSpPr>
      <p:grpSpPr>
        <a:xfrm>
          <a:off x="0" y="0"/>
          <a:ext cx="0" cy="0"/>
          <a:chOff x="0" y="0"/>
          <a:chExt cx="0" cy="0"/>
        </a:xfrm>
      </p:grpSpPr>
      <p:sp>
        <p:nvSpPr>
          <p:cNvPr id="2" name="Text 0"/>
          <p:cNvSpPr/>
          <p:nvPr/>
        </p:nvSpPr>
        <p:spPr>
          <a:xfrm>
            <a:off x="566928" y="566928"/>
            <a:ext cx="11055096" cy="256032"/>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THE LINE-UP</a:t>
            </a:r>
            <a:endParaRPr lang="en-US" sz="1050" dirty="0"/>
          </a:p>
        </p:txBody>
      </p:sp>
      <p:sp>
        <p:nvSpPr>
          <p:cNvPr id="3" name="Text 1"/>
          <p:cNvSpPr/>
          <p:nvPr/>
        </p:nvSpPr>
        <p:spPr>
          <a:xfrm>
            <a:off x="566928" y="859536"/>
            <a:ext cx="11055096" cy="5486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Fourteen names on the list</a:t>
            </a:r>
            <a:endParaRPr lang="en-US" sz="3300" dirty="0"/>
          </a:p>
        </p:txBody>
      </p:sp>
      <p:sp>
        <p:nvSpPr>
          <p:cNvPr id="4" name="Text 2"/>
          <p:cNvSpPr/>
          <p:nvPr/>
        </p:nvSpPr>
        <p:spPr>
          <a:xfrm>
            <a:off x="566928" y="1444752"/>
            <a:ext cx="8595360" cy="365760"/>
          </a:xfrm>
          <a:prstGeom prst="rect">
            <a:avLst/>
          </a:prstGeom>
          <a:noFill/>
          <a:ln/>
        </p:spPr>
        <p:txBody>
          <a:bodyPr wrap="square" lIns="0" tIns="0" rIns="0" bIns="0" rtlCol="0" anchor="ctr"/>
          <a:lstStyle/>
          <a:p>
            <a:pPr indent="0" marL="0">
              <a:buNone/>
            </a:pPr>
            <a:r>
              <a:rPr lang="en-US" sz="1250" dirty="0">
                <a:solidFill>
                  <a:srgbClr val="C9B6C2"/>
                </a:solidFill>
                <a:latin typeface="Calibri" pitchFamily="34" charset="0"/>
                <a:ea typeface="Calibri" pitchFamily="34" charset="-122"/>
                <a:cs typeface="Calibri" pitchFamily="34" charset="-120"/>
              </a:rPr>
              <a:t>On the list — not yet confirmed as attending. Reach figures are estimates from public sources, not media kits.</a:t>
            </a:r>
            <a:endParaRPr lang="en-US" sz="1250" dirty="0"/>
          </a:p>
        </p:txBody>
      </p:sp>
      <p:sp>
        <p:nvSpPr>
          <p:cNvPr id="5" name="Shape 3"/>
          <p:cNvSpPr/>
          <p:nvPr/>
        </p:nvSpPr>
        <p:spPr>
          <a:xfrm>
            <a:off x="566928" y="2286000"/>
            <a:ext cx="2660904" cy="2395728"/>
          </a:xfrm>
          <a:prstGeom prst="roundRect">
            <a:avLst>
              <a:gd name="adj" fmla="val 2290"/>
            </a:avLst>
          </a:prstGeom>
          <a:solidFill>
            <a:srgbClr val="1C0C18"/>
          </a:solidFill>
          <a:ln w="9525">
            <a:solidFill>
              <a:srgbClr val="45283C"/>
            </a:solidFill>
            <a:prstDash val="solid"/>
          </a:ln>
        </p:spPr>
      </p:sp>
      <p:sp>
        <p:nvSpPr>
          <p:cNvPr id="6" name="Text 4"/>
          <p:cNvSpPr/>
          <p:nvPr/>
        </p:nvSpPr>
        <p:spPr>
          <a:xfrm>
            <a:off x="786384" y="2578608"/>
            <a:ext cx="2221992" cy="859536"/>
          </a:xfrm>
          <a:prstGeom prst="rect">
            <a:avLst/>
          </a:prstGeom>
          <a:noFill/>
          <a:ln/>
        </p:spPr>
        <p:txBody>
          <a:bodyPr wrap="square" lIns="0" tIns="0" rIns="0" bIns="0" rtlCol="0" anchor="ctr"/>
          <a:lstStyle/>
          <a:p>
            <a:pPr indent="0" marL="0">
              <a:buNone/>
            </a:pPr>
            <a:r>
              <a:rPr lang="en-US" sz="4400" b="1" dirty="0">
                <a:solidFill>
                  <a:srgbClr val="E8C766"/>
                </a:solidFill>
                <a:latin typeface="Cambria" pitchFamily="34" charset="0"/>
                <a:ea typeface="Cambria" pitchFamily="34" charset="-122"/>
                <a:cs typeface="Cambria" pitchFamily="34" charset="-120"/>
              </a:rPr>
              <a:t>14</a:t>
            </a:r>
            <a:endParaRPr lang="en-US" sz="4400" dirty="0"/>
          </a:p>
        </p:txBody>
      </p:sp>
      <p:sp>
        <p:nvSpPr>
          <p:cNvPr id="7" name="Text 5"/>
          <p:cNvSpPr/>
          <p:nvPr/>
        </p:nvSpPr>
        <p:spPr>
          <a:xfrm>
            <a:off x="786384" y="3529584"/>
            <a:ext cx="2221992" cy="420624"/>
          </a:xfrm>
          <a:prstGeom prst="rect">
            <a:avLst/>
          </a:prstGeom>
          <a:noFill/>
          <a:ln/>
        </p:spPr>
        <p:txBody>
          <a:bodyPr wrap="square" lIns="0" tIns="0" rIns="0" bIns="0" rtlCol="0" anchor="t"/>
          <a:lstStyle/>
          <a:p>
            <a:pPr indent="0" marL="0">
              <a:lnSpc>
                <a:spcPts val="1200"/>
              </a:lnSpc>
              <a:buNone/>
            </a:pPr>
            <a:r>
              <a:rPr lang="en-US" sz="1000" b="1" spc="110" kern="0" dirty="0">
                <a:solidFill>
                  <a:srgbClr val="FFFFFF"/>
                </a:solidFill>
                <a:latin typeface="Calibri" pitchFamily="34" charset="0"/>
                <a:ea typeface="Calibri" pitchFamily="34" charset="-122"/>
                <a:cs typeface="Calibri" pitchFamily="34" charset="-120"/>
              </a:rPr>
              <a:t>NAMES ON THE LIST</a:t>
            </a:r>
            <a:endParaRPr lang="en-US" sz="1000" dirty="0"/>
          </a:p>
        </p:txBody>
      </p:sp>
      <p:sp>
        <p:nvSpPr>
          <p:cNvPr id="8" name="Text 6"/>
          <p:cNvSpPr/>
          <p:nvPr/>
        </p:nvSpPr>
        <p:spPr>
          <a:xfrm>
            <a:off x="786384" y="4224528"/>
            <a:ext cx="2221992" cy="256032"/>
          </a:xfrm>
          <a:prstGeom prst="rect">
            <a:avLst/>
          </a:prstGeom>
          <a:noFill/>
          <a:ln/>
        </p:spPr>
        <p:txBody>
          <a:bodyPr wrap="square" lIns="0" tIns="0" rIns="0" bIns="0" rtlCol="0" anchor="ctr"/>
          <a:lstStyle/>
          <a:p>
            <a:pPr indent="0" marL="0">
              <a:buNone/>
            </a:pPr>
            <a:r>
              <a:rPr lang="en-US" sz="950" i="1" dirty="0">
                <a:solidFill>
                  <a:srgbClr val="9E8794"/>
                </a:solidFill>
                <a:latin typeface="Calibri" pitchFamily="34" charset="0"/>
                <a:ea typeface="Calibri" pitchFamily="34" charset="-122"/>
                <a:cs typeface="Calibri" pitchFamily="34" charset="-120"/>
              </a:rPr>
              <a:t>11 with a confirmed title</a:t>
            </a:r>
            <a:endParaRPr lang="en-US" sz="950" dirty="0"/>
          </a:p>
        </p:txBody>
      </p:sp>
      <p:sp>
        <p:nvSpPr>
          <p:cNvPr id="9" name="Shape 7"/>
          <p:cNvSpPr/>
          <p:nvPr/>
        </p:nvSpPr>
        <p:spPr>
          <a:xfrm>
            <a:off x="3364992" y="2286000"/>
            <a:ext cx="2660904" cy="2395728"/>
          </a:xfrm>
          <a:prstGeom prst="roundRect">
            <a:avLst>
              <a:gd name="adj" fmla="val 2290"/>
            </a:avLst>
          </a:prstGeom>
          <a:solidFill>
            <a:srgbClr val="1C0C18"/>
          </a:solidFill>
          <a:ln w="9525">
            <a:solidFill>
              <a:srgbClr val="45283C"/>
            </a:solidFill>
            <a:prstDash val="solid"/>
          </a:ln>
        </p:spPr>
      </p:sp>
      <p:sp>
        <p:nvSpPr>
          <p:cNvPr id="10" name="Text 8"/>
          <p:cNvSpPr/>
          <p:nvPr/>
        </p:nvSpPr>
        <p:spPr>
          <a:xfrm>
            <a:off x="3584448" y="2578608"/>
            <a:ext cx="2221992" cy="859536"/>
          </a:xfrm>
          <a:prstGeom prst="rect">
            <a:avLst/>
          </a:prstGeom>
          <a:noFill/>
          <a:ln/>
        </p:spPr>
        <p:txBody>
          <a:bodyPr wrap="square" lIns="0" tIns="0" rIns="0" bIns="0" rtlCol="0" anchor="ctr"/>
          <a:lstStyle/>
          <a:p>
            <a:pPr indent="0" marL="0">
              <a:buNone/>
            </a:pPr>
            <a:r>
              <a:rPr lang="en-US" sz="4400" b="1" dirty="0">
                <a:solidFill>
                  <a:srgbClr val="E8C766"/>
                </a:solidFill>
                <a:latin typeface="Cambria" pitchFamily="34" charset="0"/>
                <a:ea typeface="Cambria" pitchFamily="34" charset="-122"/>
                <a:cs typeface="Cambria" pitchFamily="34" charset="-120"/>
              </a:rPr>
              <a:t>~6.1M</a:t>
            </a:r>
            <a:endParaRPr lang="en-US" sz="4400" dirty="0"/>
          </a:p>
        </p:txBody>
      </p:sp>
      <p:sp>
        <p:nvSpPr>
          <p:cNvPr id="11" name="Text 9"/>
          <p:cNvSpPr/>
          <p:nvPr/>
        </p:nvSpPr>
        <p:spPr>
          <a:xfrm>
            <a:off x="3584448" y="3529584"/>
            <a:ext cx="2221992" cy="420624"/>
          </a:xfrm>
          <a:prstGeom prst="rect">
            <a:avLst/>
          </a:prstGeom>
          <a:noFill/>
          <a:ln/>
        </p:spPr>
        <p:txBody>
          <a:bodyPr wrap="square" lIns="0" tIns="0" rIns="0" bIns="0" rtlCol="0" anchor="t"/>
          <a:lstStyle/>
          <a:p>
            <a:pPr indent="0" marL="0">
              <a:lnSpc>
                <a:spcPts val="1200"/>
              </a:lnSpc>
              <a:buNone/>
            </a:pPr>
            <a:r>
              <a:rPr lang="en-US" sz="1000" b="1" spc="110" kern="0" dirty="0">
                <a:solidFill>
                  <a:srgbClr val="FFFFFF"/>
                </a:solidFill>
                <a:latin typeface="Calibri" pitchFamily="34" charset="0"/>
                <a:ea typeface="Calibri" pitchFamily="34" charset="-122"/>
                <a:cs typeface="Calibri" pitchFamily="34" charset="-120"/>
              </a:rPr>
              <a:t>COMBINED INSTAGRAM REACH</a:t>
            </a:r>
            <a:endParaRPr lang="en-US" sz="1000" dirty="0"/>
          </a:p>
        </p:txBody>
      </p:sp>
      <p:sp>
        <p:nvSpPr>
          <p:cNvPr id="12" name="Text 10"/>
          <p:cNvSpPr/>
          <p:nvPr/>
        </p:nvSpPr>
        <p:spPr>
          <a:xfrm>
            <a:off x="3584448" y="4224528"/>
            <a:ext cx="2221992" cy="256032"/>
          </a:xfrm>
          <a:prstGeom prst="rect">
            <a:avLst/>
          </a:prstGeom>
          <a:noFill/>
          <a:ln/>
        </p:spPr>
        <p:txBody>
          <a:bodyPr wrap="square" lIns="0" tIns="0" rIns="0" bIns="0" rtlCol="0" anchor="ctr"/>
          <a:lstStyle/>
          <a:p>
            <a:pPr indent="0" marL="0">
              <a:buNone/>
            </a:pPr>
            <a:r>
              <a:rPr lang="en-US" sz="950" i="1" dirty="0">
                <a:solidFill>
                  <a:srgbClr val="9E8794"/>
                </a:solidFill>
                <a:latin typeface="Calibri" pitchFamily="34" charset="0"/>
                <a:ea typeface="Calibri" pitchFamily="34" charset="-122"/>
                <a:cs typeface="Calibri" pitchFamily="34" charset="-120"/>
              </a:rPr>
              <a:t>estimated, unverified</a:t>
            </a:r>
            <a:endParaRPr lang="en-US" sz="950" dirty="0"/>
          </a:p>
        </p:txBody>
      </p:sp>
      <p:sp>
        <p:nvSpPr>
          <p:cNvPr id="13" name="Shape 11"/>
          <p:cNvSpPr/>
          <p:nvPr/>
        </p:nvSpPr>
        <p:spPr>
          <a:xfrm>
            <a:off x="6163056" y="2286000"/>
            <a:ext cx="2660904" cy="2395728"/>
          </a:xfrm>
          <a:prstGeom prst="roundRect">
            <a:avLst>
              <a:gd name="adj" fmla="val 2290"/>
            </a:avLst>
          </a:prstGeom>
          <a:solidFill>
            <a:srgbClr val="1C0C18"/>
          </a:solidFill>
          <a:ln w="9525">
            <a:solidFill>
              <a:srgbClr val="45283C"/>
            </a:solidFill>
            <a:prstDash val="solid"/>
          </a:ln>
        </p:spPr>
      </p:sp>
      <p:sp>
        <p:nvSpPr>
          <p:cNvPr id="14" name="Text 12"/>
          <p:cNvSpPr/>
          <p:nvPr/>
        </p:nvSpPr>
        <p:spPr>
          <a:xfrm>
            <a:off x="6382512" y="2578608"/>
            <a:ext cx="2221992" cy="859536"/>
          </a:xfrm>
          <a:prstGeom prst="rect">
            <a:avLst/>
          </a:prstGeom>
          <a:noFill/>
          <a:ln/>
        </p:spPr>
        <p:txBody>
          <a:bodyPr wrap="square" lIns="0" tIns="0" rIns="0" bIns="0" rtlCol="0" anchor="ctr"/>
          <a:lstStyle/>
          <a:p>
            <a:pPr indent="0" marL="0">
              <a:buNone/>
            </a:pPr>
            <a:r>
              <a:rPr lang="en-US" sz="4400" b="1" dirty="0">
                <a:solidFill>
                  <a:srgbClr val="E8C766"/>
                </a:solidFill>
                <a:latin typeface="Cambria" pitchFamily="34" charset="0"/>
                <a:ea typeface="Cambria" pitchFamily="34" charset="-122"/>
                <a:cs typeface="Cambria" pitchFamily="34" charset="-120"/>
              </a:rPr>
              <a:t>~1.4M</a:t>
            </a:r>
            <a:endParaRPr lang="en-US" sz="4400" dirty="0"/>
          </a:p>
        </p:txBody>
      </p:sp>
      <p:sp>
        <p:nvSpPr>
          <p:cNvPr id="15" name="Text 13"/>
          <p:cNvSpPr/>
          <p:nvPr/>
        </p:nvSpPr>
        <p:spPr>
          <a:xfrm>
            <a:off x="6382512" y="3529584"/>
            <a:ext cx="2221992" cy="420624"/>
          </a:xfrm>
          <a:prstGeom prst="rect">
            <a:avLst/>
          </a:prstGeom>
          <a:noFill/>
          <a:ln/>
        </p:spPr>
        <p:txBody>
          <a:bodyPr wrap="square" lIns="0" tIns="0" rIns="0" bIns="0" rtlCol="0" anchor="t"/>
          <a:lstStyle/>
          <a:p>
            <a:pPr indent="0" marL="0">
              <a:lnSpc>
                <a:spcPts val="1200"/>
              </a:lnSpc>
              <a:buNone/>
            </a:pPr>
            <a:r>
              <a:rPr lang="en-US" sz="1000" b="1" spc="110" kern="0" dirty="0">
                <a:solidFill>
                  <a:srgbClr val="FFFFFF"/>
                </a:solidFill>
                <a:latin typeface="Calibri" pitchFamily="34" charset="0"/>
                <a:ea typeface="Calibri" pitchFamily="34" charset="-122"/>
                <a:cs typeface="Calibri" pitchFamily="34" charset="-120"/>
              </a:rPr>
              <a:t>COMBINED TIKTOK REACH</a:t>
            </a:r>
            <a:endParaRPr lang="en-US" sz="1000" dirty="0"/>
          </a:p>
        </p:txBody>
      </p:sp>
      <p:sp>
        <p:nvSpPr>
          <p:cNvPr id="16" name="Text 14"/>
          <p:cNvSpPr/>
          <p:nvPr/>
        </p:nvSpPr>
        <p:spPr>
          <a:xfrm>
            <a:off x="6382512" y="4224528"/>
            <a:ext cx="2221992" cy="256032"/>
          </a:xfrm>
          <a:prstGeom prst="rect">
            <a:avLst/>
          </a:prstGeom>
          <a:noFill/>
          <a:ln/>
        </p:spPr>
        <p:txBody>
          <a:bodyPr wrap="square" lIns="0" tIns="0" rIns="0" bIns="0" rtlCol="0" anchor="ctr"/>
          <a:lstStyle/>
          <a:p>
            <a:pPr indent="0" marL="0">
              <a:buNone/>
            </a:pPr>
            <a:r>
              <a:rPr lang="en-US" sz="950" i="1" dirty="0">
                <a:solidFill>
                  <a:srgbClr val="9E8794"/>
                </a:solidFill>
                <a:latin typeface="Calibri" pitchFamily="34" charset="0"/>
                <a:ea typeface="Calibri" pitchFamily="34" charset="-122"/>
                <a:cs typeface="Calibri" pitchFamily="34" charset="-120"/>
              </a:rPr>
              <a:t>where an account was found</a:t>
            </a:r>
            <a:endParaRPr lang="en-US" sz="950" dirty="0"/>
          </a:p>
        </p:txBody>
      </p:sp>
      <p:sp>
        <p:nvSpPr>
          <p:cNvPr id="17" name="Shape 15"/>
          <p:cNvSpPr/>
          <p:nvPr/>
        </p:nvSpPr>
        <p:spPr>
          <a:xfrm>
            <a:off x="8961120" y="2286000"/>
            <a:ext cx="2660904" cy="2395728"/>
          </a:xfrm>
          <a:prstGeom prst="roundRect">
            <a:avLst>
              <a:gd name="adj" fmla="val 2290"/>
            </a:avLst>
          </a:prstGeom>
          <a:solidFill>
            <a:srgbClr val="1C0C18"/>
          </a:solidFill>
          <a:ln w="9525">
            <a:solidFill>
              <a:srgbClr val="45283C"/>
            </a:solidFill>
            <a:prstDash val="solid"/>
          </a:ln>
        </p:spPr>
      </p:sp>
      <p:sp>
        <p:nvSpPr>
          <p:cNvPr id="18" name="Text 16"/>
          <p:cNvSpPr/>
          <p:nvPr/>
        </p:nvSpPr>
        <p:spPr>
          <a:xfrm>
            <a:off x="9180576" y="2578608"/>
            <a:ext cx="2221992" cy="859536"/>
          </a:xfrm>
          <a:prstGeom prst="rect">
            <a:avLst/>
          </a:prstGeom>
          <a:noFill/>
          <a:ln/>
        </p:spPr>
        <p:txBody>
          <a:bodyPr wrap="square" lIns="0" tIns="0" rIns="0" bIns="0" rtlCol="0" anchor="ctr"/>
          <a:lstStyle/>
          <a:p>
            <a:pPr indent="0" marL="0">
              <a:buNone/>
            </a:pPr>
            <a:r>
              <a:rPr lang="en-US" sz="4400" b="1" dirty="0">
                <a:solidFill>
                  <a:srgbClr val="E8C766"/>
                </a:solidFill>
                <a:latin typeface="Cambria" pitchFamily="34" charset="0"/>
                <a:ea typeface="Cambria" pitchFamily="34" charset="-122"/>
                <a:cs typeface="Cambria" pitchFamily="34" charset="-120"/>
              </a:rPr>
              <a:t>11</a:t>
            </a:r>
            <a:endParaRPr lang="en-US" sz="4400" dirty="0"/>
          </a:p>
        </p:txBody>
      </p:sp>
      <p:sp>
        <p:nvSpPr>
          <p:cNvPr id="19" name="Text 17"/>
          <p:cNvSpPr/>
          <p:nvPr/>
        </p:nvSpPr>
        <p:spPr>
          <a:xfrm>
            <a:off x="9180576" y="3529584"/>
            <a:ext cx="2221992" cy="420624"/>
          </a:xfrm>
          <a:prstGeom prst="rect">
            <a:avLst/>
          </a:prstGeom>
          <a:noFill/>
          <a:ln/>
        </p:spPr>
        <p:txBody>
          <a:bodyPr wrap="square" lIns="0" tIns="0" rIns="0" bIns="0" rtlCol="0" anchor="t"/>
          <a:lstStyle/>
          <a:p>
            <a:pPr indent="0" marL="0">
              <a:lnSpc>
                <a:spcPts val="1200"/>
              </a:lnSpc>
              <a:buNone/>
            </a:pPr>
            <a:r>
              <a:rPr lang="en-US" sz="1000" b="1" spc="110" kern="0" dirty="0">
                <a:solidFill>
                  <a:srgbClr val="FFFFFF"/>
                </a:solidFill>
                <a:latin typeface="Calibri" pitchFamily="34" charset="0"/>
                <a:ea typeface="Calibri" pitchFamily="34" charset="-122"/>
                <a:cs typeface="Calibri" pitchFamily="34" charset="-120"/>
              </a:rPr>
              <a:t>NATIONALITIES &amp; TERRITORIES</a:t>
            </a:r>
            <a:endParaRPr lang="en-US" sz="1000" dirty="0"/>
          </a:p>
        </p:txBody>
      </p:sp>
      <p:sp>
        <p:nvSpPr>
          <p:cNvPr id="20" name="Text 18"/>
          <p:cNvSpPr/>
          <p:nvPr/>
        </p:nvSpPr>
        <p:spPr>
          <a:xfrm>
            <a:off x="9180576" y="4224528"/>
            <a:ext cx="2221992" cy="256032"/>
          </a:xfrm>
          <a:prstGeom prst="rect">
            <a:avLst/>
          </a:prstGeom>
          <a:noFill/>
          <a:ln/>
        </p:spPr>
        <p:txBody>
          <a:bodyPr wrap="square" lIns="0" tIns="0" rIns="0" bIns="0" rtlCol="0" anchor="ctr"/>
          <a:lstStyle/>
          <a:p>
            <a:pPr indent="0" marL="0">
              <a:buNone/>
            </a:pPr>
            <a:r>
              <a:rPr lang="en-US" sz="950" i="1" dirty="0">
                <a:solidFill>
                  <a:srgbClr val="9E8794"/>
                </a:solidFill>
                <a:latin typeface="Calibri" pitchFamily="34" charset="0"/>
                <a:ea typeface="Calibri" pitchFamily="34" charset="-122"/>
                <a:cs typeface="Calibri" pitchFamily="34" charset="-120"/>
              </a:rPr>
              <a:t>one still unidentified</a:t>
            </a:r>
            <a:endParaRPr lang="en-US" sz="950" dirty="0"/>
          </a:p>
        </p:txBody>
      </p:sp>
      <p:sp>
        <p:nvSpPr>
          <p:cNvPr id="21" name="Text 19"/>
          <p:cNvSpPr/>
          <p:nvPr/>
        </p:nvSpPr>
        <p:spPr>
          <a:xfrm>
            <a:off x="566928" y="5047488"/>
            <a:ext cx="10689336" cy="731520"/>
          </a:xfrm>
          <a:prstGeom prst="rect">
            <a:avLst/>
          </a:prstGeom>
          <a:noFill/>
          <a:ln/>
        </p:spPr>
        <p:txBody>
          <a:bodyPr wrap="square" lIns="0" tIns="0" rIns="0" bIns="0" rtlCol="0" anchor="t"/>
          <a:lstStyle/>
          <a:p>
            <a:pPr indent="0" marL="0">
              <a:lnSpc>
                <a:spcPts val="1700"/>
              </a:lnSpc>
              <a:buNone/>
            </a:pPr>
            <a:r>
              <a:rPr lang="en-US" sz="1200" dirty="0">
                <a:solidFill>
                  <a:srgbClr val="C9B6C2"/>
                </a:solidFill>
                <a:latin typeface="Calibri" pitchFamily="34" charset="0"/>
                <a:ea typeface="Calibri" pitchFamily="34" charset="-122"/>
                <a:cs typeface="Calibri" pitchFamily="34" charset="-120"/>
              </a:rPr>
              <a:t>Real engagement rate and audience demographics are not public on any platform. They live in each woman's private Insights dashboard — the only way to get them is to request her official media kit during the individual calls.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THE LINE-UP  ·  1 OF 3</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Who is on the list</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Ordered by Instagram reach. Drop cleared photographs into the circles — do not use images we have not licensed.</a:t>
            </a:r>
            <a:endParaRPr lang="en-US" sz="1300" dirty="0"/>
          </a:p>
        </p:txBody>
      </p:sp>
      <p:sp>
        <p:nvSpPr>
          <p:cNvPr id="5" name="Shape 3"/>
          <p:cNvSpPr/>
          <p:nvPr/>
        </p:nvSpPr>
        <p:spPr>
          <a:xfrm>
            <a:off x="566928" y="1975104"/>
            <a:ext cx="2064715" cy="4005072"/>
          </a:xfrm>
          <a:prstGeom prst="roundRect">
            <a:avLst>
              <a:gd name="adj" fmla="val 2657"/>
            </a:avLst>
          </a:prstGeom>
          <a:solidFill>
            <a:srgbClr val="F6F2F5"/>
          </a:solidFill>
          <a:ln w="9525">
            <a:solidFill>
              <a:srgbClr val="E4DDE2"/>
            </a:solidFill>
            <a:prstDash val="solid"/>
          </a:ln>
        </p:spPr>
      </p:sp>
      <p:sp>
        <p:nvSpPr>
          <p:cNvPr id="6" name="Shape 4"/>
          <p:cNvSpPr/>
          <p:nvPr/>
        </p:nvSpPr>
        <p:spPr>
          <a:xfrm>
            <a:off x="950062" y="2212848"/>
            <a:ext cx="1298448" cy="1298448"/>
          </a:xfrm>
          <a:prstGeom prst="ellipse">
            <a:avLst/>
          </a:prstGeom>
          <a:solidFill>
            <a:srgbClr val="EBE3E9"/>
          </a:solidFill>
          <a:ln w="19050">
            <a:solidFill>
              <a:srgbClr val="C9992B"/>
            </a:solidFill>
            <a:prstDash val="solid"/>
          </a:ln>
        </p:spPr>
      </p:sp>
      <p:sp>
        <p:nvSpPr>
          <p:cNvPr id="7" name="Text 5"/>
          <p:cNvSpPr/>
          <p:nvPr/>
        </p:nvSpPr>
        <p:spPr>
          <a:xfrm>
            <a:off x="95006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8" name="Text 6"/>
          <p:cNvSpPr/>
          <p:nvPr/>
        </p:nvSpPr>
        <p:spPr>
          <a:xfrm>
            <a:off x="71323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Olivia Yacé</a:t>
            </a:r>
            <a:endParaRPr lang="en-US" sz="1300" dirty="0"/>
          </a:p>
        </p:txBody>
      </p:sp>
      <p:sp>
        <p:nvSpPr>
          <p:cNvPr id="9" name="Text 7"/>
          <p:cNvSpPr/>
          <p:nvPr/>
        </p:nvSpPr>
        <p:spPr>
          <a:xfrm>
            <a:off x="69494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CÔTE D'IVOIRE</a:t>
            </a:r>
            <a:endParaRPr lang="en-US" sz="800" dirty="0"/>
          </a:p>
        </p:txBody>
      </p:sp>
      <p:sp>
        <p:nvSpPr>
          <p:cNvPr id="10" name="Text 8"/>
          <p:cNvSpPr/>
          <p:nvPr/>
        </p:nvSpPr>
        <p:spPr>
          <a:xfrm>
            <a:off x="71323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Côte d'Ivoire 2021 · 4th RU, Miss Universe 2025</a:t>
            </a:r>
            <a:endParaRPr lang="en-US" sz="950" dirty="0"/>
          </a:p>
        </p:txBody>
      </p:sp>
      <p:sp>
        <p:nvSpPr>
          <p:cNvPr id="11" name="Text 9"/>
          <p:cNvSpPr/>
          <p:nvPr/>
        </p:nvSpPr>
        <p:spPr>
          <a:xfrm>
            <a:off x="71323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~1M</a:t>
            </a:r>
            <a:endParaRPr lang="en-US" sz="1100" dirty="0"/>
          </a:p>
        </p:txBody>
      </p:sp>
      <p:sp>
        <p:nvSpPr>
          <p:cNvPr id="12" name="Text 10"/>
          <p:cNvSpPr/>
          <p:nvPr/>
        </p:nvSpPr>
        <p:spPr>
          <a:xfrm>
            <a:off x="67665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~934K · FB ~756K</a:t>
            </a:r>
            <a:endParaRPr lang="en-US" sz="800" dirty="0"/>
          </a:p>
        </p:txBody>
      </p:sp>
      <p:sp>
        <p:nvSpPr>
          <p:cNvPr id="13" name="Shape 11"/>
          <p:cNvSpPr/>
          <p:nvPr/>
        </p:nvSpPr>
        <p:spPr>
          <a:xfrm>
            <a:off x="1131113" y="5614416"/>
            <a:ext cx="936346" cy="219456"/>
          </a:xfrm>
          <a:prstGeom prst="roundRect">
            <a:avLst>
              <a:gd name="adj" fmla="val 50000"/>
            </a:avLst>
          </a:prstGeom>
          <a:solidFill>
            <a:srgbClr val="8A6A12">
              <a:alpha val="12000"/>
            </a:srgbClr>
          </a:solidFill>
          <a:ln w="9525">
            <a:solidFill>
              <a:srgbClr val="8A6A12"/>
            </a:solidFill>
            <a:prstDash val="solid"/>
          </a:ln>
        </p:spPr>
      </p:sp>
      <p:sp>
        <p:nvSpPr>
          <p:cNvPr id="14" name="Text 12"/>
          <p:cNvSpPr/>
          <p:nvPr/>
        </p:nvSpPr>
        <p:spPr>
          <a:xfrm>
            <a:off x="1131113" y="5614416"/>
            <a:ext cx="936346"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VERIFY TITLE</a:t>
            </a:r>
            <a:endParaRPr lang="en-US" sz="800" dirty="0"/>
          </a:p>
        </p:txBody>
      </p:sp>
      <p:sp>
        <p:nvSpPr>
          <p:cNvPr id="15" name="Shape 13"/>
          <p:cNvSpPr/>
          <p:nvPr/>
        </p:nvSpPr>
        <p:spPr>
          <a:xfrm>
            <a:off x="2814523" y="1975104"/>
            <a:ext cx="2064715" cy="4005072"/>
          </a:xfrm>
          <a:prstGeom prst="roundRect">
            <a:avLst>
              <a:gd name="adj" fmla="val 2657"/>
            </a:avLst>
          </a:prstGeom>
          <a:solidFill>
            <a:srgbClr val="F6F2F5"/>
          </a:solidFill>
          <a:ln w="9525">
            <a:solidFill>
              <a:srgbClr val="E4DDE2"/>
            </a:solidFill>
            <a:prstDash val="solid"/>
          </a:ln>
        </p:spPr>
      </p:sp>
      <p:sp>
        <p:nvSpPr>
          <p:cNvPr id="16" name="Shape 14"/>
          <p:cNvSpPr/>
          <p:nvPr/>
        </p:nvSpPr>
        <p:spPr>
          <a:xfrm>
            <a:off x="3197657" y="2212848"/>
            <a:ext cx="1298448" cy="1298448"/>
          </a:xfrm>
          <a:prstGeom prst="ellipse">
            <a:avLst/>
          </a:prstGeom>
          <a:solidFill>
            <a:srgbClr val="EBE3E9"/>
          </a:solidFill>
          <a:ln w="19050">
            <a:solidFill>
              <a:srgbClr val="C9992B"/>
            </a:solidFill>
            <a:prstDash val="solid"/>
          </a:ln>
        </p:spPr>
      </p:sp>
      <p:sp>
        <p:nvSpPr>
          <p:cNvPr id="17" name="Text 15"/>
          <p:cNvSpPr/>
          <p:nvPr/>
        </p:nvSpPr>
        <p:spPr>
          <a:xfrm>
            <a:off x="319765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18" name="Text 16"/>
          <p:cNvSpPr/>
          <p:nvPr/>
        </p:nvSpPr>
        <p:spPr>
          <a:xfrm>
            <a:off x="2960827"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Veena Praveenar Singh</a:t>
            </a:r>
            <a:endParaRPr lang="en-US" sz="1300" dirty="0"/>
          </a:p>
        </p:txBody>
      </p:sp>
      <p:sp>
        <p:nvSpPr>
          <p:cNvPr id="19" name="Text 17"/>
          <p:cNvSpPr/>
          <p:nvPr/>
        </p:nvSpPr>
        <p:spPr>
          <a:xfrm>
            <a:off x="2942539"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THAILAND</a:t>
            </a:r>
            <a:endParaRPr lang="en-US" sz="800" dirty="0"/>
          </a:p>
        </p:txBody>
      </p:sp>
      <p:sp>
        <p:nvSpPr>
          <p:cNvPr id="20" name="Text 18"/>
          <p:cNvSpPr/>
          <p:nvPr/>
        </p:nvSpPr>
        <p:spPr>
          <a:xfrm>
            <a:off x="2960827"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Universe Thailand 2025 · 1st RU, Miss Universe 2025</a:t>
            </a:r>
            <a:endParaRPr lang="en-US" sz="950" dirty="0"/>
          </a:p>
        </p:txBody>
      </p:sp>
      <p:sp>
        <p:nvSpPr>
          <p:cNvPr id="21" name="Text 19"/>
          <p:cNvSpPr/>
          <p:nvPr/>
        </p:nvSpPr>
        <p:spPr>
          <a:xfrm>
            <a:off x="2960827"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~2M</a:t>
            </a:r>
            <a:endParaRPr lang="en-US" sz="1100" dirty="0"/>
          </a:p>
        </p:txBody>
      </p:sp>
      <p:sp>
        <p:nvSpPr>
          <p:cNvPr id="22" name="Text 20"/>
          <p:cNvSpPr/>
          <p:nvPr/>
        </p:nvSpPr>
        <p:spPr>
          <a:xfrm>
            <a:off x="2924251"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active</a:t>
            </a:r>
            <a:endParaRPr lang="en-US" sz="800" dirty="0"/>
          </a:p>
        </p:txBody>
      </p:sp>
      <p:sp>
        <p:nvSpPr>
          <p:cNvPr id="23" name="Shape 21"/>
          <p:cNvSpPr/>
          <p:nvPr/>
        </p:nvSpPr>
        <p:spPr>
          <a:xfrm>
            <a:off x="3477463" y="5614416"/>
            <a:ext cx="738835" cy="219456"/>
          </a:xfrm>
          <a:prstGeom prst="roundRect">
            <a:avLst>
              <a:gd name="adj" fmla="val 50000"/>
            </a:avLst>
          </a:prstGeom>
          <a:solidFill>
            <a:srgbClr val="8A6A12">
              <a:alpha val="12000"/>
            </a:srgbClr>
          </a:solidFill>
          <a:ln w="9525">
            <a:solidFill>
              <a:srgbClr val="8A6A12"/>
            </a:solidFill>
            <a:prstDash val="solid"/>
          </a:ln>
        </p:spPr>
      </p:sp>
      <p:sp>
        <p:nvSpPr>
          <p:cNvPr id="24" name="Text 22"/>
          <p:cNvSpPr/>
          <p:nvPr/>
        </p:nvSpPr>
        <p:spPr>
          <a:xfrm>
            <a:off x="3477463"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CORRECTED</a:t>
            </a:r>
            <a:endParaRPr lang="en-US" sz="800" dirty="0"/>
          </a:p>
        </p:txBody>
      </p:sp>
      <p:sp>
        <p:nvSpPr>
          <p:cNvPr id="25" name="Shape 23"/>
          <p:cNvSpPr/>
          <p:nvPr/>
        </p:nvSpPr>
        <p:spPr>
          <a:xfrm>
            <a:off x="5062118" y="1975104"/>
            <a:ext cx="2064715" cy="4005072"/>
          </a:xfrm>
          <a:prstGeom prst="roundRect">
            <a:avLst>
              <a:gd name="adj" fmla="val 2657"/>
            </a:avLst>
          </a:prstGeom>
          <a:solidFill>
            <a:srgbClr val="F6F2F5"/>
          </a:solidFill>
          <a:ln w="9525">
            <a:solidFill>
              <a:srgbClr val="E4DDE2"/>
            </a:solidFill>
            <a:prstDash val="solid"/>
          </a:ln>
        </p:spPr>
      </p:sp>
      <p:sp>
        <p:nvSpPr>
          <p:cNvPr id="26" name="Shape 24"/>
          <p:cNvSpPr/>
          <p:nvPr/>
        </p:nvSpPr>
        <p:spPr>
          <a:xfrm>
            <a:off x="5445252" y="2212848"/>
            <a:ext cx="1298448" cy="1298448"/>
          </a:xfrm>
          <a:prstGeom prst="ellipse">
            <a:avLst/>
          </a:prstGeom>
          <a:solidFill>
            <a:srgbClr val="EBE3E9"/>
          </a:solidFill>
          <a:ln w="19050">
            <a:solidFill>
              <a:srgbClr val="C9992B"/>
            </a:solidFill>
            <a:prstDash val="solid"/>
          </a:ln>
        </p:spPr>
      </p:sp>
      <p:sp>
        <p:nvSpPr>
          <p:cNvPr id="27" name="Text 25"/>
          <p:cNvSpPr/>
          <p:nvPr/>
        </p:nvSpPr>
        <p:spPr>
          <a:xfrm>
            <a:off x="544525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28" name="Text 26"/>
          <p:cNvSpPr/>
          <p:nvPr/>
        </p:nvSpPr>
        <p:spPr>
          <a:xfrm>
            <a:off x="520842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Isabella Menin</a:t>
            </a:r>
            <a:endParaRPr lang="en-US" sz="1300" dirty="0"/>
          </a:p>
        </p:txBody>
      </p:sp>
      <p:sp>
        <p:nvSpPr>
          <p:cNvPr id="29" name="Text 27"/>
          <p:cNvSpPr/>
          <p:nvPr/>
        </p:nvSpPr>
        <p:spPr>
          <a:xfrm>
            <a:off x="519013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BRAZIL</a:t>
            </a:r>
            <a:endParaRPr lang="en-US" sz="800" dirty="0"/>
          </a:p>
        </p:txBody>
      </p:sp>
      <p:sp>
        <p:nvSpPr>
          <p:cNvPr id="30" name="Text 28"/>
          <p:cNvSpPr/>
          <p:nvPr/>
        </p:nvSpPr>
        <p:spPr>
          <a:xfrm>
            <a:off x="520842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Grand International 2022</a:t>
            </a:r>
            <a:endParaRPr lang="en-US" sz="950" dirty="0"/>
          </a:p>
        </p:txBody>
      </p:sp>
      <p:sp>
        <p:nvSpPr>
          <p:cNvPr id="31" name="Text 29"/>
          <p:cNvSpPr/>
          <p:nvPr/>
        </p:nvSpPr>
        <p:spPr>
          <a:xfrm>
            <a:off x="520842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~1.05M</a:t>
            </a:r>
            <a:endParaRPr lang="en-US" sz="1100" dirty="0"/>
          </a:p>
        </p:txBody>
      </p:sp>
      <p:sp>
        <p:nvSpPr>
          <p:cNvPr id="32" name="Text 30"/>
          <p:cNvSpPr/>
          <p:nvPr/>
        </p:nvSpPr>
        <p:spPr>
          <a:xfrm>
            <a:off x="517184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No other platform found</a:t>
            </a:r>
            <a:endParaRPr lang="en-US" sz="800" dirty="0"/>
          </a:p>
        </p:txBody>
      </p:sp>
      <p:sp>
        <p:nvSpPr>
          <p:cNvPr id="33" name="Shape 31"/>
          <p:cNvSpPr/>
          <p:nvPr/>
        </p:nvSpPr>
        <p:spPr>
          <a:xfrm>
            <a:off x="5725058"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34" name="Text 32"/>
          <p:cNvSpPr/>
          <p:nvPr/>
        </p:nvSpPr>
        <p:spPr>
          <a:xfrm>
            <a:off x="5725058"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35" name="Shape 33"/>
          <p:cNvSpPr/>
          <p:nvPr/>
        </p:nvSpPr>
        <p:spPr>
          <a:xfrm>
            <a:off x="7309714" y="1975104"/>
            <a:ext cx="2064715" cy="4005072"/>
          </a:xfrm>
          <a:prstGeom prst="roundRect">
            <a:avLst>
              <a:gd name="adj" fmla="val 2657"/>
            </a:avLst>
          </a:prstGeom>
          <a:solidFill>
            <a:srgbClr val="F6F2F5"/>
          </a:solidFill>
          <a:ln w="9525">
            <a:solidFill>
              <a:srgbClr val="E4DDE2"/>
            </a:solidFill>
            <a:prstDash val="solid"/>
          </a:ln>
        </p:spPr>
      </p:sp>
      <p:sp>
        <p:nvSpPr>
          <p:cNvPr id="36" name="Shape 34"/>
          <p:cNvSpPr/>
          <p:nvPr/>
        </p:nvSpPr>
        <p:spPr>
          <a:xfrm>
            <a:off x="7692847" y="2212848"/>
            <a:ext cx="1298448" cy="1298448"/>
          </a:xfrm>
          <a:prstGeom prst="ellipse">
            <a:avLst/>
          </a:prstGeom>
          <a:solidFill>
            <a:srgbClr val="EBE3E9"/>
          </a:solidFill>
          <a:ln w="19050">
            <a:solidFill>
              <a:srgbClr val="C9992B"/>
            </a:solidFill>
            <a:prstDash val="solid"/>
          </a:ln>
        </p:spPr>
      </p:sp>
      <p:sp>
        <p:nvSpPr>
          <p:cNvPr id="37" name="Text 35"/>
          <p:cNvSpPr/>
          <p:nvPr/>
        </p:nvSpPr>
        <p:spPr>
          <a:xfrm>
            <a:off x="769284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38" name="Text 36"/>
          <p:cNvSpPr/>
          <p:nvPr/>
        </p:nvSpPr>
        <p:spPr>
          <a:xfrm>
            <a:off x="7456018"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Nadia Mejia</a:t>
            </a:r>
            <a:endParaRPr lang="en-US" sz="1300" dirty="0"/>
          </a:p>
        </p:txBody>
      </p:sp>
      <p:sp>
        <p:nvSpPr>
          <p:cNvPr id="39" name="Text 37"/>
          <p:cNvSpPr/>
          <p:nvPr/>
        </p:nvSpPr>
        <p:spPr>
          <a:xfrm>
            <a:off x="7437730"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ECUADOR / USA</a:t>
            </a:r>
            <a:endParaRPr lang="en-US" sz="800" dirty="0"/>
          </a:p>
        </p:txBody>
      </p:sp>
      <p:sp>
        <p:nvSpPr>
          <p:cNvPr id="40" name="Text 38"/>
          <p:cNvSpPr/>
          <p:nvPr/>
        </p:nvSpPr>
        <p:spPr>
          <a:xfrm>
            <a:off x="7456018"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Universe Ecuador 2025 · Miss California USA 2016</a:t>
            </a:r>
            <a:endParaRPr lang="en-US" sz="950" dirty="0"/>
          </a:p>
        </p:txBody>
      </p:sp>
      <p:sp>
        <p:nvSpPr>
          <p:cNvPr id="41" name="Text 39"/>
          <p:cNvSpPr/>
          <p:nvPr/>
        </p:nvSpPr>
        <p:spPr>
          <a:xfrm>
            <a:off x="7456018"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~435K</a:t>
            </a:r>
            <a:endParaRPr lang="en-US" sz="1100" dirty="0"/>
          </a:p>
        </p:txBody>
      </p:sp>
      <p:sp>
        <p:nvSpPr>
          <p:cNvPr id="42" name="Text 40"/>
          <p:cNvSpPr/>
          <p:nvPr/>
        </p:nvSpPr>
        <p:spPr>
          <a:xfrm>
            <a:off x="7419442"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~125K</a:t>
            </a:r>
            <a:endParaRPr lang="en-US" sz="800" dirty="0"/>
          </a:p>
        </p:txBody>
      </p:sp>
      <p:sp>
        <p:nvSpPr>
          <p:cNvPr id="43" name="Shape 41"/>
          <p:cNvSpPr/>
          <p:nvPr/>
        </p:nvSpPr>
        <p:spPr>
          <a:xfrm>
            <a:off x="7972654" y="5614416"/>
            <a:ext cx="738835" cy="219456"/>
          </a:xfrm>
          <a:prstGeom prst="roundRect">
            <a:avLst>
              <a:gd name="adj" fmla="val 50000"/>
            </a:avLst>
          </a:prstGeom>
          <a:solidFill>
            <a:srgbClr val="8A6A12">
              <a:alpha val="12000"/>
            </a:srgbClr>
          </a:solidFill>
          <a:ln w="9525">
            <a:solidFill>
              <a:srgbClr val="8A6A12"/>
            </a:solidFill>
            <a:prstDash val="solid"/>
          </a:ln>
        </p:spPr>
      </p:sp>
      <p:sp>
        <p:nvSpPr>
          <p:cNvPr id="44" name="Text 42"/>
          <p:cNvSpPr/>
          <p:nvPr/>
        </p:nvSpPr>
        <p:spPr>
          <a:xfrm>
            <a:off x="7972654"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CORRECTED</a:t>
            </a:r>
            <a:endParaRPr lang="en-US" sz="800" dirty="0"/>
          </a:p>
        </p:txBody>
      </p:sp>
      <p:sp>
        <p:nvSpPr>
          <p:cNvPr id="45" name="Shape 43"/>
          <p:cNvSpPr/>
          <p:nvPr/>
        </p:nvSpPr>
        <p:spPr>
          <a:xfrm>
            <a:off x="9557309" y="1975104"/>
            <a:ext cx="2064715" cy="4005072"/>
          </a:xfrm>
          <a:prstGeom prst="roundRect">
            <a:avLst>
              <a:gd name="adj" fmla="val 2657"/>
            </a:avLst>
          </a:prstGeom>
          <a:solidFill>
            <a:srgbClr val="F6F2F5"/>
          </a:solidFill>
          <a:ln w="9525">
            <a:solidFill>
              <a:srgbClr val="E4DDE2"/>
            </a:solidFill>
            <a:prstDash val="solid"/>
          </a:ln>
        </p:spPr>
      </p:sp>
      <p:sp>
        <p:nvSpPr>
          <p:cNvPr id="46" name="Shape 44"/>
          <p:cNvSpPr/>
          <p:nvPr/>
        </p:nvSpPr>
        <p:spPr>
          <a:xfrm>
            <a:off x="9940442" y="2212848"/>
            <a:ext cx="1298448" cy="1298448"/>
          </a:xfrm>
          <a:prstGeom prst="ellipse">
            <a:avLst/>
          </a:prstGeom>
          <a:solidFill>
            <a:srgbClr val="EBE3E9"/>
          </a:solidFill>
          <a:ln w="19050">
            <a:solidFill>
              <a:srgbClr val="C9992B"/>
            </a:solidFill>
            <a:prstDash val="solid"/>
          </a:ln>
        </p:spPr>
      </p:sp>
      <p:sp>
        <p:nvSpPr>
          <p:cNvPr id="47" name="Text 45"/>
          <p:cNvSpPr/>
          <p:nvPr/>
        </p:nvSpPr>
        <p:spPr>
          <a:xfrm>
            <a:off x="994044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48" name="Text 46"/>
          <p:cNvSpPr/>
          <p:nvPr/>
        </p:nvSpPr>
        <p:spPr>
          <a:xfrm>
            <a:off x="9703613"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Alicia Aylies</a:t>
            </a:r>
            <a:endParaRPr lang="en-US" sz="1300" dirty="0"/>
          </a:p>
        </p:txBody>
      </p:sp>
      <p:sp>
        <p:nvSpPr>
          <p:cNvPr id="49" name="Text 47"/>
          <p:cNvSpPr/>
          <p:nvPr/>
        </p:nvSpPr>
        <p:spPr>
          <a:xfrm>
            <a:off x="9685325"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FRENCH GUIANA</a:t>
            </a:r>
            <a:endParaRPr lang="en-US" sz="800" dirty="0"/>
          </a:p>
        </p:txBody>
      </p:sp>
      <p:sp>
        <p:nvSpPr>
          <p:cNvPr id="50" name="Text 48"/>
          <p:cNvSpPr/>
          <p:nvPr/>
        </p:nvSpPr>
        <p:spPr>
          <a:xfrm>
            <a:off x="9703613"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France 2017</a:t>
            </a:r>
            <a:endParaRPr lang="en-US" sz="950" dirty="0"/>
          </a:p>
        </p:txBody>
      </p:sp>
      <p:sp>
        <p:nvSpPr>
          <p:cNvPr id="51" name="Text 49"/>
          <p:cNvSpPr/>
          <p:nvPr/>
        </p:nvSpPr>
        <p:spPr>
          <a:xfrm>
            <a:off x="9703613"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~423K</a:t>
            </a:r>
            <a:endParaRPr lang="en-US" sz="1100" dirty="0"/>
          </a:p>
        </p:txBody>
      </p:sp>
      <p:sp>
        <p:nvSpPr>
          <p:cNvPr id="52" name="Text 50"/>
          <p:cNvSpPr/>
          <p:nvPr/>
        </p:nvSpPr>
        <p:spPr>
          <a:xfrm>
            <a:off x="9667037"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~148K · FB ~78K</a:t>
            </a:r>
            <a:endParaRPr lang="en-US" sz="800" dirty="0"/>
          </a:p>
        </p:txBody>
      </p:sp>
      <p:sp>
        <p:nvSpPr>
          <p:cNvPr id="53" name="Shape 51"/>
          <p:cNvSpPr/>
          <p:nvPr/>
        </p:nvSpPr>
        <p:spPr>
          <a:xfrm>
            <a:off x="10220249"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54" name="Text 52"/>
          <p:cNvSpPr/>
          <p:nvPr/>
        </p:nvSpPr>
        <p:spPr>
          <a:xfrm>
            <a:off x="10220249"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55" name="Text 53"/>
          <p:cNvSpPr/>
          <p:nvPr/>
        </p:nvSpPr>
        <p:spPr>
          <a:xfrm>
            <a:off x="566928" y="6163056"/>
            <a:ext cx="11055096" cy="274320"/>
          </a:xfrm>
          <a:prstGeom prst="rect">
            <a:avLst/>
          </a:prstGeom>
          <a:noFill/>
          <a:ln/>
        </p:spPr>
        <p:txBody>
          <a:bodyPr wrap="square" lIns="0" tIns="0" rIns="0" bIns="0" rtlCol="0" anchor="ctr"/>
          <a:lstStyle/>
          <a:p>
            <a:pPr indent="0" marL="0">
              <a:buNone/>
            </a:pPr>
            <a:r>
              <a:rPr lang="en-US" sz="1000" i="1" dirty="0">
                <a:solidFill>
                  <a:srgbClr val="7A6E76"/>
                </a:solidFill>
                <a:latin typeface="Calibri" pitchFamily="34" charset="0"/>
                <a:ea typeface="Calibri" pitchFamily="34" charset="-122"/>
                <a:cs typeface="Calibri" pitchFamily="34" charset="-120"/>
              </a:rPr>
              <a:t>Follower figures are approximate, from public search — verify against each media kit before any of this reaches a sponsor.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THE LINE-UP  ·  2 OF 3</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Who is on the list</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Ordered by Instagram reach. Drop cleared photographs into the circles — do not use images we have not licensed.</a:t>
            </a:r>
            <a:endParaRPr lang="en-US" sz="1300" dirty="0"/>
          </a:p>
        </p:txBody>
      </p:sp>
      <p:sp>
        <p:nvSpPr>
          <p:cNvPr id="5" name="Shape 3"/>
          <p:cNvSpPr/>
          <p:nvPr/>
        </p:nvSpPr>
        <p:spPr>
          <a:xfrm>
            <a:off x="566928" y="1975104"/>
            <a:ext cx="2064715" cy="4005072"/>
          </a:xfrm>
          <a:prstGeom prst="roundRect">
            <a:avLst>
              <a:gd name="adj" fmla="val 2657"/>
            </a:avLst>
          </a:prstGeom>
          <a:solidFill>
            <a:srgbClr val="F6F2F5"/>
          </a:solidFill>
          <a:ln w="9525">
            <a:solidFill>
              <a:srgbClr val="E4DDE2"/>
            </a:solidFill>
            <a:prstDash val="solid"/>
          </a:ln>
        </p:spPr>
      </p:sp>
      <p:sp>
        <p:nvSpPr>
          <p:cNvPr id="6" name="Shape 4"/>
          <p:cNvSpPr/>
          <p:nvPr/>
        </p:nvSpPr>
        <p:spPr>
          <a:xfrm>
            <a:off x="950062" y="2212848"/>
            <a:ext cx="1298448" cy="1298448"/>
          </a:xfrm>
          <a:prstGeom prst="ellipse">
            <a:avLst/>
          </a:prstGeom>
          <a:solidFill>
            <a:srgbClr val="EBE3E9"/>
          </a:solidFill>
          <a:ln w="19050">
            <a:solidFill>
              <a:srgbClr val="C9992B"/>
            </a:solidFill>
            <a:prstDash val="solid"/>
          </a:ln>
        </p:spPr>
      </p:sp>
      <p:sp>
        <p:nvSpPr>
          <p:cNvPr id="7" name="Text 5"/>
          <p:cNvSpPr/>
          <p:nvPr/>
        </p:nvSpPr>
        <p:spPr>
          <a:xfrm>
            <a:off x="95006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8" name="Text 6"/>
          <p:cNvSpPr/>
          <p:nvPr/>
        </p:nvSpPr>
        <p:spPr>
          <a:xfrm>
            <a:off x="71323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Angélique Angarni-Filopon</a:t>
            </a:r>
            <a:endParaRPr lang="en-US" sz="1300" dirty="0"/>
          </a:p>
        </p:txBody>
      </p:sp>
      <p:sp>
        <p:nvSpPr>
          <p:cNvPr id="9" name="Text 7"/>
          <p:cNvSpPr/>
          <p:nvPr/>
        </p:nvSpPr>
        <p:spPr>
          <a:xfrm>
            <a:off x="69494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MARTINIQUE</a:t>
            </a:r>
            <a:endParaRPr lang="en-US" sz="800" dirty="0"/>
          </a:p>
        </p:txBody>
      </p:sp>
      <p:sp>
        <p:nvSpPr>
          <p:cNvPr id="10" name="Text 8"/>
          <p:cNvSpPr/>
          <p:nvPr/>
        </p:nvSpPr>
        <p:spPr>
          <a:xfrm>
            <a:off x="71323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France 2025 — first Martinican winner</a:t>
            </a:r>
            <a:endParaRPr lang="en-US" sz="950" dirty="0"/>
          </a:p>
        </p:txBody>
      </p:sp>
      <p:sp>
        <p:nvSpPr>
          <p:cNvPr id="11" name="Text 9"/>
          <p:cNvSpPr/>
          <p:nvPr/>
        </p:nvSpPr>
        <p:spPr>
          <a:xfrm>
            <a:off x="71323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~395K</a:t>
            </a:r>
            <a:endParaRPr lang="en-US" sz="1100" dirty="0"/>
          </a:p>
        </p:txBody>
      </p:sp>
      <p:sp>
        <p:nvSpPr>
          <p:cNvPr id="12" name="Text 10"/>
          <p:cNvSpPr/>
          <p:nvPr/>
        </p:nvSpPr>
        <p:spPr>
          <a:xfrm>
            <a:off x="67665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No personal TikTok</a:t>
            </a:r>
            <a:endParaRPr lang="en-US" sz="800" dirty="0"/>
          </a:p>
        </p:txBody>
      </p:sp>
      <p:sp>
        <p:nvSpPr>
          <p:cNvPr id="13" name="Shape 11"/>
          <p:cNvSpPr/>
          <p:nvPr/>
        </p:nvSpPr>
        <p:spPr>
          <a:xfrm>
            <a:off x="1229868" y="5614416"/>
            <a:ext cx="738835" cy="219456"/>
          </a:xfrm>
          <a:prstGeom prst="roundRect">
            <a:avLst>
              <a:gd name="adj" fmla="val 50000"/>
            </a:avLst>
          </a:prstGeom>
          <a:solidFill>
            <a:srgbClr val="8A6A12">
              <a:alpha val="12000"/>
            </a:srgbClr>
          </a:solidFill>
          <a:ln w="9525">
            <a:solidFill>
              <a:srgbClr val="8A6A12"/>
            </a:solidFill>
            <a:prstDash val="solid"/>
          </a:ln>
        </p:spPr>
      </p:sp>
      <p:sp>
        <p:nvSpPr>
          <p:cNvPr id="14" name="Text 12"/>
          <p:cNvSpPr/>
          <p:nvPr/>
        </p:nvSpPr>
        <p:spPr>
          <a:xfrm>
            <a:off x="1229868"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8A6A12"/>
                </a:solidFill>
                <a:latin typeface="Calibri" pitchFamily="34" charset="0"/>
                <a:ea typeface="Calibri" pitchFamily="34" charset="-122"/>
                <a:cs typeface="Calibri" pitchFamily="34" charset="-120"/>
              </a:rPr>
              <a:t>CORRECTED</a:t>
            </a:r>
            <a:endParaRPr lang="en-US" sz="800" dirty="0"/>
          </a:p>
        </p:txBody>
      </p:sp>
      <p:sp>
        <p:nvSpPr>
          <p:cNvPr id="15" name="Shape 13"/>
          <p:cNvSpPr/>
          <p:nvPr/>
        </p:nvSpPr>
        <p:spPr>
          <a:xfrm>
            <a:off x="2814523" y="1975104"/>
            <a:ext cx="2064715" cy="4005072"/>
          </a:xfrm>
          <a:prstGeom prst="roundRect">
            <a:avLst>
              <a:gd name="adj" fmla="val 2657"/>
            </a:avLst>
          </a:prstGeom>
          <a:solidFill>
            <a:srgbClr val="F6F2F5"/>
          </a:solidFill>
          <a:ln w="9525">
            <a:solidFill>
              <a:srgbClr val="E4DDE2"/>
            </a:solidFill>
            <a:prstDash val="solid"/>
          </a:ln>
        </p:spPr>
      </p:sp>
      <p:sp>
        <p:nvSpPr>
          <p:cNvPr id="16" name="Shape 14"/>
          <p:cNvSpPr/>
          <p:nvPr/>
        </p:nvSpPr>
        <p:spPr>
          <a:xfrm>
            <a:off x="3197657" y="2212848"/>
            <a:ext cx="1298448" cy="1298448"/>
          </a:xfrm>
          <a:prstGeom prst="ellipse">
            <a:avLst/>
          </a:prstGeom>
          <a:solidFill>
            <a:srgbClr val="EBE3E9"/>
          </a:solidFill>
          <a:ln w="19050">
            <a:solidFill>
              <a:srgbClr val="C9992B"/>
            </a:solidFill>
            <a:prstDash val="solid"/>
          </a:ln>
        </p:spPr>
      </p:sp>
      <p:sp>
        <p:nvSpPr>
          <p:cNvPr id="17" name="Text 15"/>
          <p:cNvSpPr/>
          <p:nvPr/>
        </p:nvSpPr>
        <p:spPr>
          <a:xfrm>
            <a:off x="319765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18" name="Text 16"/>
          <p:cNvSpPr/>
          <p:nvPr/>
        </p:nvSpPr>
        <p:spPr>
          <a:xfrm>
            <a:off x="2960827"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Rebecca Biangue</a:t>
            </a:r>
            <a:endParaRPr lang="en-US" sz="1300" dirty="0"/>
          </a:p>
        </p:txBody>
      </p:sp>
      <p:sp>
        <p:nvSpPr>
          <p:cNvPr id="19" name="Text 17"/>
          <p:cNvSpPr/>
          <p:nvPr/>
        </p:nvSpPr>
        <p:spPr>
          <a:xfrm>
            <a:off x="2942539"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FRANCE</a:t>
            </a:r>
            <a:endParaRPr lang="en-US" sz="800" dirty="0"/>
          </a:p>
        </p:txBody>
      </p:sp>
      <p:sp>
        <p:nvSpPr>
          <p:cNvPr id="20" name="Text 18"/>
          <p:cNvSpPr/>
          <p:nvPr/>
        </p:nvSpPr>
        <p:spPr>
          <a:xfrm>
            <a:off x="2960827"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Beauty &amp; lifestyle creator — no title found</a:t>
            </a:r>
            <a:endParaRPr lang="en-US" sz="950" dirty="0"/>
          </a:p>
        </p:txBody>
      </p:sp>
      <p:sp>
        <p:nvSpPr>
          <p:cNvPr id="21" name="Text 19"/>
          <p:cNvSpPr/>
          <p:nvPr/>
        </p:nvSpPr>
        <p:spPr>
          <a:xfrm>
            <a:off x="2960827"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~220K</a:t>
            </a:r>
            <a:endParaRPr lang="en-US" sz="1100" dirty="0"/>
          </a:p>
        </p:txBody>
      </p:sp>
      <p:sp>
        <p:nvSpPr>
          <p:cNvPr id="22" name="Text 20"/>
          <p:cNvSpPr/>
          <p:nvPr/>
        </p:nvSpPr>
        <p:spPr>
          <a:xfrm>
            <a:off x="2924251"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~43K</a:t>
            </a:r>
            <a:endParaRPr lang="en-US" sz="800" dirty="0"/>
          </a:p>
        </p:txBody>
      </p:sp>
      <p:sp>
        <p:nvSpPr>
          <p:cNvPr id="23" name="Shape 21"/>
          <p:cNvSpPr/>
          <p:nvPr/>
        </p:nvSpPr>
        <p:spPr>
          <a:xfrm>
            <a:off x="3510382" y="5614416"/>
            <a:ext cx="672998" cy="219456"/>
          </a:xfrm>
          <a:prstGeom prst="roundRect">
            <a:avLst>
              <a:gd name="adj" fmla="val 50000"/>
            </a:avLst>
          </a:prstGeom>
          <a:solidFill>
            <a:srgbClr val="9C2C2C">
              <a:alpha val="12000"/>
            </a:srgbClr>
          </a:solidFill>
          <a:ln w="9525">
            <a:solidFill>
              <a:srgbClr val="9C2C2C"/>
            </a:solidFill>
            <a:prstDash val="solid"/>
          </a:ln>
        </p:spPr>
      </p:sp>
      <p:sp>
        <p:nvSpPr>
          <p:cNvPr id="24" name="Text 22"/>
          <p:cNvSpPr/>
          <p:nvPr/>
        </p:nvSpPr>
        <p:spPr>
          <a:xfrm>
            <a:off x="3510382" y="5614416"/>
            <a:ext cx="672998" cy="219456"/>
          </a:xfrm>
          <a:prstGeom prst="rect">
            <a:avLst/>
          </a:prstGeom>
          <a:noFill/>
          <a:ln/>
        </p:spPr>
        <p:txBody>
          <a:bodyPr wrap="square" lIns="0" tIns="0" rIns="0" bIns="0" rtlCol="0" anchor="ctr"/>
          <a:lstStyle/>
          <a:p>
            <a:pPr algn="ctr" indent="0" marL="0">
              <a:buNone/>
            </a:pPr>
            <a:r>
              <a:rPr lang="en-US" sz="800" b="1" spc="60" kern="0" dirty="0">
                <a:solidFill>
                  <a:srgbClr val="9C2C2C"/>
                </a:solidFill>
                <a:latin typeface="Calibri" pitchFamily="34" charset="0"/>
                <a:ea typeface="Calibri" pitchFamily="34" charset="-122"/>
                <a:cs typeface="Calibri" pitchFamily="34" charset="-120"/>
              </a:rPr>
              <a:t>NO TITLE</a:t>
            </a:r>
            <a:endParaRPr lang="en-US" sz="800" dirty="0"/>
          </a:p>
        </p:txBody>
      </p:sp>
      <p:sp>
        <p:nvSpPr>
          <p:cNvPr id="25" name="Shape 23"/>
          <p:cNvSpPr/>
          <p:nvPr/>
        </p:nvSpPr>
        <p:spPr>
          <a:xfrm>
            <a:off x="5062118" y="1975104"/>
            <a:ext cx="2064715" cy="4005072"/>
          </a:xfrm>
          <a:prstGeom prst="roundRect">
            <a:avLst>
              <a:gd name="adj" fmla="val 2657"/>
            </a:avLst>
          </a:prstGeom>
          <a:solidFill>
            <a:srgbClr val="F6F2F5"/>
          </a:solidFill>
          <a:ln w="9525">
            <a:solidFill>
              <a:srgbClr val="E4DDE2"/>
            </a:solidFill>
            <a:prstDash val="solid"/>
          </a:ln>
        </p:spPr>
      </p:sp>
      <p:sp>
        <p:nvSpPr>
          <p:cNvPr id="26" name="Shape 24"/>
          <p:cNvSpPr/>
          <p:nvPr/>
        </p:nvSpPr>
        <p:spPr>
          <a:xfrm>
            <a:off x="5445252" y="2212848"/>
            <a:ext cx="1298448" cy="1298448"/>
          </a:xfrm>
          <a:prstGeom prst="ellipse">
            <a:avLst/>
          </a:prstGeom>
          <a:solidFill>
            <a:srgbClr val="EBE3E9"/>
          </a:solidFill>
          <a:ln w="19050">
            <a:solidFill>
              <a:srgbClr val="C9992B"/>
            </a:solidFill>
            <a:prstDash val="solid"/>
          </a:ln>
        </p:spPr>
      </p:sp>
      <p:sp>
        <p:nvSpPr>
          <p:cNvPr id="27" name="Text 25"/>
          <p:cNvSpPr/>
          <p:nvPr/>
        </p:nvSpPr>
        <p:spPr>
          <a:xfrm>
            <a:off x="544525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28" name="Text 26"/>
          <p:cNvSpPr/>
          <p:nvPr/>
        </p:nvSpPr>
        <p:spPr>
          <a:xfrm>
            <a:off x="520842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Dorcas Dienda</a:t>
            </a:r>
            <a:endParaRPr lang="en-US" sz="1300" dirty="0"/>
          </a:p>
        </p:txBody>
      </p:sp>
      <p:sp>
        <p:nvSpPr>
          <p:cNvPr id="29" name="Text 27"/>
          <p:cNvSpPr/>
          <p:nvPr/>
        </p:nvSpPr>
        <p:spPr>
          <a:xfrm>
            <a:off x="519013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DR CONGO</a:t>
            </a:r>
            <a:endParaRPr lang="en-US" sz="800" dirty="0"/>
          </a:p>
        </p:txBody>
      </p:sp>
      <p:sp>
        <p:nvSpPr>
          <p:cNvPr id="30" name="Text 28"/>
          <p:cNvSpPr/>
          <p:nvPr/>
        </p:nvSpPr>
        <p:spPr>
          <a:xfrm>
            <a:off x="520842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Africa 2019 · Miss Universe DR Congo 2025</a:t>
            </a:r>
            <a:endParaRPr lang="en-US" sz="950" dirty="0"/>
          </a:p>
        </p:txBody>
      </p:sp>
      <p:sp>
        <p:nvSpPr>
          <p:cNvPr id="31" name="Text 29"/>
          <p:cNvSpPr/>
          <p:nvPr/>
        </p:nvSpPr>
        <p:spPr>
          <a:xfrm>
            <a:off x="520842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~216K</a:t>
            </a:r>
            <a:endParaRPr lang="en-US" sz="1100" dirty="0"/>
          </a:p>
        </p:txBody>
      </p:sp>
      <p:sp>
        <p:nvSpPr>
          <p:cNvPr id="32" name="Text 30"/>
          <p:cNvSpPr/>
          <p:nvPr/>
        </p:nvSpPr>
        <p:spPr>
          <a:xfrm>
            <a:off x="517184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active</a:t>
            </a:r>
            <a:endParaRPr lang="en-US" sz="800" dirty="0"/>
          </a:p>
        </p:txBody>
      </p:sp>
      <p:sp>
        <p:nvSpPr>
          <p:cNvPr id="33" name="Shape 31"/>
          <p:cNvSpPr/>
          <p:nvPr/>
        </p:nvSpPr>
        <p:spPr>
          <a:xfrm>
            <a:off x="5725058"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34" name="Text 32"/>
          <p:cNvSpPr/>
          <p:nvPr/>
        </p:nvSpPr>
        <p:spPr>
          <a:xfrm>
            <a:off x="5725058"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35" name="Shape 33"/>
          <p:cNvSpPr/>
          <p:nvPr/>
        </p:nvSpPr>
        <p:spPr>
          <a:xfrm>
            <a:off x="7309714" y="1975104"/>
            <a:ext cx="2064715" cy="4005072"/>
          </a:xfrm>
          <a:prstGeom prst="roundRect">
            <a:avLst>
              <a:gd name="adj" fmla="val 2657"/>
            </a:avLst>
          </a:prstGeom>
          <a:solidFill>
            <a:srgbClr val="F6F2F5"/>
          </a:solidFill>
          <a:ln w="9525">
            <a:solidFill>
              <a:srgbClr val="E4DDE2"/>
            </a:solidFill>
            <a:prstDash val="solid"/>
          </a:ln>
        </p:spPr>
      </p:sp>
      <p:sp>
        <p:nvSpPr>
          <p:cNvPr id="36" name="Shape 34"/>
          <p:cNvSpPr/>
          <p:nvPr/>
        </p:nvSpPr>
        <p:spPr>
          <a:xfrm>
            <a:off x="7692847" y="2212848"/>
            <a:ext cx="1298448" cy="1298448"/>
          </a:xfrm>
          <a:prstGeom prst="ellipse">
            <a:avLst/>
          </a:prstGeom>
          <a:solidFill>
            <a:srgbClr val="EBE3E9"/>
          </a:solidFill>
          <a:ln w="19050">
            <a:solidFill>
              <a:srgbClr val="C9992B"/>
            </a:solidFill>
            <a:prstDash val="solid"/>
          </a:ln>
        </p:spPr>
      </p:sp>
      <p:sp>
        <p:nvSpPr>
          <p:cNvPr id="37" name="Text 35"/>
          <p:cNvSpPr/>
          <p:nvPr/>
        </p:nvSpPr>
        <p:spPr>
          <a:xfrm>
            <a:off x="769284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38" name="Text 36"/>
          <p:cNvSpPr/>
          <p:nvPr/>
        </p:nvSpPr>
        <p:spPr>
          <a:xfrm>
            <a:off x="7456018"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Ophély Mézino</a:t>
            </a:r>
            <a:endParaRPr lang="en-US" sz="1300" dirty="0"/>
          </a:p>
        </p:txBody>
      </p:sp>
      <p:sp>
        <p:nvSpPr>
          <p:cNvPr id="39" name="Text 37"/>
          <p:cNvSpPr/>
          <p:nvPr/>
        </p:nvSpPr>
        <p:spPr>
          <a:xfrm>
            <a:off x="7437730"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GUADELOUPE</a:t>
            </a:r>
            <a:endParaRPr lang="en-US" sz="800" dirty="0"/>
          </a:p>
        </p:txBody>
      </p:sp>
      <p:sp>
        <p:nvSpPr>
          <p:cNvPr id="40" name="Text 38"/>
          <p:cNvSpPr/>
          <p:nvPr/>
        </p:nvSpPr>
        <p:spPr>
          <a:xfrm>
            <a:off x="7456018"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World 2019 1st RU · Miss Universe Guadeloupe 2025</a:t>
            </a:r>
            <a:endParaRPr lang="en-US" sz="950" dirty="0"/>
          </a:p>
        </p:txBody>
      </p:sp>
      <p:sp>
        <p:nvSpPr>
          <p:cNvPr id="41" name="Text 39"/>
          <p:cNvSpPr/>
          <p:nvPr/>
        </p:nvSpPr>
        <p:spPr>
          <a:xfrm>
            <a:off x="7456018"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~141K</a:t>
            </a:r>
            <a:endParaRPr lang="en-US" sz="1100" dirty="0"/>
          </a:p>
        </p:txBody>
      </p:sp>
      <p:sp>
        <p:nvSpPr>
          <p:cNvPr id="42" name="Text 40"/>
          <p:cNvSpPr/>
          <p:nvPr/>
        </p:nvSpPr>
        <p:spPr>
          <a:xfrm>
            <a:off x="7419442"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~35K · FB ~20K</a:t>
            </a:r>
            <a:endParaRPr lang="en-US" sz="800" dirty="0"/>
          </a:p>
        </p:txBody>
      </p:sp>
      <p:sp>
        <p:nvSpPr>
          <p:cNvPr id="43" name="Shape 41"/>
          <p:cNvSpPr/>
          <p:nvPr/>
        </p:nvSpPr>
        <p:spPr>
          <a:xfrm>
            <a:off x="7972654"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44" name="Text 42"/>
          <p:cNvSpPr/>
          <p:nvPr/>
        </p:nvSpPr>
        <p:spPr>
          <a:xfrm>
            <a:off x="7972654"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45" name="Shape 43"/>
          <p:cNvSpPr/>
          <p:nvPr/>
        </p:nvSpPr>
        <p:spPr>
          <a:xfrm>
            <a:off x="9557309" y="1975104"/>
            <a:ext cx="2064715" cy="4005072"/>
          </a:xfrm>
          <a:prstGeom prst="roundRect">
            <a:avLst>
              <a:gd name="adj" fmla="val 2657"/>
            </a:avLst>
          </a:prstGeom>
          <a:solidFill>
            <a:srgbClr val="F6F2F5"/>
          </a:solidFill>
          <a:ln w="9525">
            <a:solidFill>
              <a:srgbClr val="E4DDE2"/>
            </a:solidFill>
            <a:prstDash val="solid"/>
          </a:ln>
        </p:spPr>
      </p:sp>
      <p:sp>
        <p:nvSpPr>
          <p:cNvPr id="46" name="Shape 44"/>
          <p:cNvSpPr/>
          <p:nvPr/>
        </p:nvSpPr>
        <p:spPr>
          <a:xfrm>
            <a:off x="9940442" y="2212848"/>
            <a:ext cx="1298448" cy="1298448"/>
          </a:xfrm>
          <a:prstGeom prst="ellipse">
            <a:avLst/>
          </a:prstGeom>
          <a:solidFill>
            <a:srgbClr val="EBE3E9"/>
          </a:solidFill>
          <a:ln w="19050">
            <a:solidFill>
              <a:srgbClr val="C9992B"/>
            </a:solidFill>
            <a:prstDash val="solid"/>
          </a:ln>
        </p:spPr>
      </p:sp>
      <p:sp>
        <p:nvSpPr>
          <p:cNvPr id="47" name="Text 45"/>
          <p:cNvSpPr/>
          <p:nvPr/>
        </p:nvSpPr>
        <p:spPr>
          <a:xfrm>
            <a:off x="994044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48" name="Text 46"/>
          <p:cNvSpPr/>
          <p:nvPr/>
        </p:nvSpPr>
        <p:spPr>
          <a:xfrm>
            <a:off x="9703613"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Nellie Anjaratiana</a:t>
            </a:r>
            <a:endParaRPr lang="en-US" sz="1300" dirty="0"/>
          </a:p>
        </p:txBody>
      </p:sp>
      <p:sp>
        <p:nvSpPr>
          <p:cNvPr id="49" name="Text 47"/>
          <p:cNvSpPr/>
          <p:nvPr/>
        </p:nvSpPr>
        <p:spPr>
          <a:xfrm>
            <a:off x="9685325"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MADAGASCAR</a:t>
            </a:r>
            <a:endParaRPr lang="en-US" sz="800" dirty="0"/>
          </a:p>
        </p:txBody>
      </p:sp>
      <p:sp>
        <p:nvSpPr>
          <p:cNvPr id="50" name="Text 48"/>
          <p:cNvSpPr/>
          <p:nvPr/>
        </p:nvSpPr>
        <p:spPr>
          <a:xfrm>
            <a:off x="9703613"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Madagascar 2020 · Top 40, Miss World</a:t>
            </a:r>
            <a:endParaRPr lang="en-US" sz="950" dirty="0"/>
          </a:p>
        </p:txBody>
      </p:sp>
      <p:sp>
        <p:nvSpPr>
          <p:cNvPr id="51" name="Text 49"/>
          <p:cNvSpPr/>
          <p:nvPr/>
        </p:nvSpPr>
        <p:spPr>
          <a:xfrm>
            <a:off x="9703613"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~80K</a:t>
            </a:r>
            <a:endParaRPr lang="en-US" sz="1100" dirty="0"/>
          </a:p>
        </p:txBody>
      </p:sp>
      <p:sp>
        <p:nvSpPr>
          <p:cNvPr id="52" name="Text 50"/>
          <p:cNvSpPr/>
          <p:nvPr/>
        </p:nvSpPr>
        <p:spPr>
          <a:xfrm>
            <a:off x="9667037"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Facebook ~105K</a:t>
            </a:r>
            <a:endParaRPr lang="en-US" sz="800" dirty="0"/>
          </a:p>
        </p:txBody>
      </p:sp>
      <p:sp>
        <p:nvSpPr>
          <p:cNvPr id="53" name="Shape 51"/>
          <p:cNvSpPr/>
          <p:nvPr/>
        </p:nvSpPr>
        <p:spPr>
          <a:xfrm>
            <a:off x="10220249"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54" name="Text 52"/>
          <p:cNvSpPr/>
          <p:nvPr/>
        </p:nvSpPr>
        <p:spPr>
          <a:xfrm>
            <a:off x="10220249"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55" name="Text 53"/>
          <p:cNvSpPr/>
          <p:nvPr/>
        </p:nvSpPr>
        <p:spPr>
          <a:xfrm>
            <a:off x="566928" y="6163056"/>
            <a:ext cx="11055096" cy="274320"/>
          </a:xfrm>
          <a:prstGeom prst="rect">
            <a:avLst/>
          </a:prstGeom>
          <a:noFill/>
          <a:ln/>
        </p:spPr>
        <p:txBody>
          <a:bodyPr wrap="square" lIns="0" tIns="0" rIns="0" bIns="0" rtlCol="0" anchor="ctr"/>
          <a:lstStyle/>
          <a:p>
            <a:pPr indent="0" marL="0">
              <a:buNone/>
            </a:pPr>
            <a:r>
              <a:rPr lang="en-US" sz="1000" i="1" dirty="0">
                <a:solidFill>
                  <a:srgbClr val="7A6E76"/>
                </a:solidFill>
                <a:latin typeface="Calibri" pitchFamily="34" charset="0"/>
                <a:ea typeface="Calibri" pitchFamily="34" charset="-122"/>
                <a:cs typeface="Calibri" pitchFamily="34" charset="-120"/>
              </a:rPr>
              <a:t>Follower figures are approximate, from public search — verify against each media kit before any of this reaches a sponsor.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THE LINE-UP  ·  3 OF 3</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Who is on the list</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Ordered by Instagram reach. Drop cleared photographs into the circles — do not use images we have not licensed.</a:t>
            </a:r>
            <a:endParaRPr lang="en-US" sz="1300" dirty="0"/>
          </a:p>
        </p:txBody>
      </p:sp>
      <p:sp>
        <p:nvSpPr>
          <p:cNvPr id="5" name="Shape 3"/>
          <p:cNvSpPr/>
          <p:nvPr/>
        </p:nvSpPr>
        <p:spPr>
          <a:xfrm>
            <a:off x="566928" y="1975104"/>
            <a:ext cx="2064715" cy="4005072"/>
          </a:xfrm>
          <a:prstGeom prst="roundRect">
            <a:avLst>
              <a:gd name="adj" fmla="val 2657"/>
            </a:avLst>
          </a:prstGeom>
          <a:solidFill>
            <a:srgbClr val="F6F2F5"/>
          </a:solidFill>
          <a:ln w="9525">
            <a:solidFill>
              <a:srgbClr val="E4DDE2"/>
            </a:solidFill>
            <a:prstDash val="solid"/>
          </a:ln>
        </p:spPr>
      </p:sp>
      <p:sp>
        <p:nvSpPr>
          <p:cNvPr id="6" name="Shape 4"/>
          <p:cNvSpPr/>
          <p:nvPr/>
        </p:nvSpPr>
        <p:spPr>
          <a:xfrm>
            <a:off x="950062" y="2212848"/>
            <a:ext cx="1298448" cy="1298448"/>
          </a:xfrm>
          <a:prstGeom prst="ellipse">
            <a:avLst/>
          </a:prstGeom>
          <a:solidFill>
            <a:srgbClr val="EBE3E9"/>
          </a:solidFill>
          <a:ln w="19050">
            <a:solidFill>
              <a:srgbClr val="C9992B"/>
            </a:solidFill>
            <a:prstDash val="solid"/>
          </a:ln>
        </p:spPr>
      </p:sp>
      <p:sp>
        <p:nvSpPr>
          <p:cNvPr id="7" name="Text 5"/>
          <p:cNvSpPr/>
          <p:nvPr/>
        </p:nvSpPr>
        <p:spPr>
          <a:xfrm>
            <a:off x="95006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8" name="Text 6"/>
          <p:cNvSpPr/>
          <p:nvPr/>
        </p:nvSpPr>
        <p:spPr>
          <a:xfrm>
            <a:off x="71323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Sephora Kongo</a:t>
            </a:r>
            <a:endParaRPr lang="en-US" sz="1300" dirty="0"/>
          </a:p>
        </p:txBody>
      </p:sp>
      <p:sp>
        <p:nvSpPr>
          <p:cNvPr id="9" name="Text 7"/>
          <p:cNvSpPr/>
          <p:nvPr/>
        </p:nvSpPr>
        <p:spPr>
          <a:xfrm>
            <a:off x="69494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DR CONGO</a:t>
            </a:r>
            <a:endParaRPr lang="en-US" sz="800" dirty="0"/>
          </a:p>
        </p:txBody>
      </p:sp>
      <p:sp>
        <p:nvSpPr>
          <p:cNvPr id="10" name="Text 8"/>
          <p:cNvSpPr/>
          <p:nvPr/>
        </p:nvSpPr>
        <p:spPr>
          <a:xfrm>
            <a:off x="71323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Fashion &amp; lifestyle influencer — no title found</a:t>
            </a:r>
            <a:endParaRPr lang="en-US" sz="950" dirty="0"/>
          </a:p>
        </p:txBody>
      </p:sp>
      <p:sp>
        <p:nvSpPr>
          <p:cNvPr id="11" name="Text 9"/>
          <p:cNvSpPr/>
          <p:nvPr/>
        </p:nvSpPr>
        <p:spPr>
          <a:xfrm>
            <a:off x="71323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~73K</a:t>
            </a:r>
            <a:endParaRPr lang="en-US" sz="1100" dirty="0"/>
          </a:p>
        </p:txBody>
      </p:sp>
      <p:sp>
        <p:nvSpPr>
          <p:cNvPr id="12" name="Text 10"/>
          <p:cNvSpPr/>
          <p:nvPr/>
        </p:nvSpPr>
        <p:spPr>
          <a:xfrm>
            <a:off x="67665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~39K</a:t>
            </a:r>
            <a:endParaRPr lang="en-US" sz="800" dirty="0"/>
          </a:p>
        </p:txBody>
      </p:sp>
      <p:sp>
        <p:nvSpPr>
          <p:cNvPr id="13" name="Shape 11"/>
          <p:cNvSpPr/>
          <p:nvPr/>
        </p:nvSpPr>
        <p:spPr>
          <a:xfrm>
            <a:off x="1262786" y="5614416"/>
            <a:ext cx="672998" cy="219456"/>
          </a:xfrm>
          <a:prstGeom prst="roundRect">
            <a:avLst>
              <a:gd name="adj" fmla="val 50000"/>
            </a:avLst>
          </a:prstGeom>
          <a:solidFill>
            <a:srgbClr val="9C2C2C">
              <a:alpha val="12000"/>
            </a:srgbClr>
          </a:solidFill>
          <a:ln w="9525">
            <a:solidFill>
              <a:srgbClr val="9C2C2C"/>
            </a:solidFill>
            <a:prstDash val="solid"/>
          </a:ln>
        </p:spPr>
      </p:sp>
      <p:sp>
        <p:nvSpPr>
          <p:cNvPr id="14" name="Text 12"/>
          <p:cNvSpPr/>
          <p:nvPr/>
        </p:nvSpPr>
        <p:spPr>
          <a:xfrm>
            <a:off x="1262786" y="5614416"/>
            <a:ext cx="672998" cy="219456"/>
          </a:xfrm>
          <a:prstGeom prst="rect">
            <a:avLst/>
          </a:prstGeom>
          <a:noFill/>
          <a:ln/>
        </p:spPr>
        <p:txBody>
          <a:bodyPr wrap="square" lIns="0" tIns="0" rIns="0" bIns="0" rtlCol="0" anchor="ctr"/>
          <a:lstStyle/>
          <a:p>
            <a:pPr algn="ctr" indent="0" marL="0">
              <a:buNone/>
            </a:pPr>
            <a:r>
              <a:rPr lang="en-US" sz="800" b="1" spc="60" kern="0" dirty="0">
                <a:solidFill>
                  <a:srgbClr val="9C2C2C"/>
                </a:solidFill>
                <a:latin typeface="Calibri" pitchFamily="34" charset="0"/>
                <a:ea typeface="Calibri" pitchFamily="34" charset="-122"/>
                <a:cs typeface="Calibri" pitchFamily="34" charset="-120"/>
              </a:rPr>
              <a:t>NO TITLE</a:t>
            </a:r>
            <a:endParaRPr lang="en-US" sz="800" dirty="0"/>
          </a:p>
        </p:txBody>
      </p:sp>
      <p:sp>
        <p:nvSpPr>
          <p:cNvPr id="15" name="Shape 13"/>
          <p:cNvSpPr/>
          <p:nvPr/>
        </p:nvSpPr>
        <p:spPr>
          <a:xfrm>
            <a:off x="2814523" y="1975104"/>
            <a:ext cx="2064715" cy="4005072"/>
          </a:xfrm>
          <a:prstGeom prst="roundRect">
            <a:avLst>
              <a:gd name="adj" fmla="val 2657"/>
            </a:avLst>
          </a:prstGeom>
          <a:solidFill>
            <a:srgbClr val="F6F2F5"/>
          </a:solidFill>
          <a:ln w="9525">
            <a:solidFill>
              <a:srgbClr val="E4DDE2"/>
            </a:solidFill>
            <a:prstDash val="solid"/>
          </a:ln>
        </p:spPr>
      </p:sp>
      <p:sp>
        <p:nvSpPr>
          <p:cNvPr id="16" name="Shape 14"/>
          <p:cNvSpPr/>
          <p:nvPr/>
        </p:nvSpPr>
        <p:spPr>
          <a:xfrm>
            <a:off x="3197657" y="2212848"/>
            <a:ext cx="1298448" cy="1298448"/>
          </a:xfrm>
          <a:prstGeom prst="ellipse">
            <a:avLst/>
          </a:prstGeom>
          <a:solidFill>
            <a:srgbClr val="EBE3E9"/>
          </a:solidFill>
          <a:ln w="19050">
            <a:solidFill>
              <a:srgbClr val="C9992B"/>
            </a:solidFill>
            <a:prstDash val="solid"/>
          </a:ln>
        </p:spPr>
      </p:sp>
      <p:sp>
        <p:nvSpPr>
          <p:cNvPr id="17" name="Text 15"/>
          <p:cNvSpPr/>
          <p:nvPr/>
        </p:nvSpPr>
        <p:spPr>
          <a:xfrm>
            <a:off x="319765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18" name="Text 16"/>
          <p:cNvSpPr/>
          <p:nvPr/>
        </p:nvSpPr>
        <p:spPr>
          <a:xfrm>
            <a:off x="2960827"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“Tai”</a:t>
            </a:r>
            <a:endParaRPr lang="en-US" sz="1300" dirty="0"/>
          </a:p>
        </p:txBody>
      </p:sp>
      <p:sp>
        <p:nvSpPr>
          <p:cNvPr id="19" name="Text 17"/>
          <p:cNvSpPr/>
          <p:nvPr/>
        </p:nvSpPr>
        <p:spPr>
          <a:xfrm>
            <a:off x="2942539"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UNKNOWN</a:t>
            </a:r>
            <a:endParaRPr lang="en-US" sz="800" dirty="0"/>
          </a:p>
        </p:txBody>
      </p:sp>
      <p:sp>
        <p:nvSpPr>
          <p:cNvPr id="20" name="Text 18"/>
          <p:cNvSpPr/>
          <p:nvPr/>
        </p:nvSpPr>
        <p:spPr>
          <a:xfrm>
            <a:off x="2960827"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No name, nationality or credentials found</a:t>
            </a:r>
            <a:endParaRPr lang="en-US" sz="950" dirty="0"/>
          </a:p>
        </p:txBody>
      </p:sp>
      <p:sp>
        <p:nvSpPr>
          <p:cNvPr id="21" name="Text 19"/>
          <p:cNvSpPr/>
          <p:nvPr/>
        </p:nvSpPr>
        <p:spPr>
          <a:xfrm>
            <a:off x="2960827"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~43–63K</a:t>
            </a:r>
            <a:endParaRPr lang="en-US" sz="1100" dirty="0"/>
          </a:p>
        </p:txBody>
      </p:sp>
      <p:sp>
        <p:nvSpPr>
          <p:cNvPr id="22" name="Text 20"/>
          <p:cNvSpPr/>
          <p:nvPr/>
        </p:nvSpPr>
        <p:spPr>
          <a:xfrm>
            <a:off x="2924251"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No other platform found</a:t>
            </a:r>
            <a:endParaRPr lang="en-US" sz="800" dirty="0"/>
          </a:p>
        </p:txBody>
      </p:sp>
      <p:sp>
        <p:nvSpPr>
          <p:cNvPr id="23" name="Shape 21"/>
          <p:cNvSpPr/>
          <p:nvPr/>
        </p:nvSpPr>
        <p:spPr>
          <a:xfrm>
            <a:off x="3378708" y="5614416"/>
            <a:ext cx="936346" cy="219456"/>
          </a:xfrm>
          <a:prstGeom prst="roundRect">
            <a:avLst>
              <a:gd name="adj" fmla="val 50000"/>
            </a:avLst>
          </a:prstGeom>
          <a:solidFill>
            <a:srgbClr val="9C2C2C">
              <a:alpha val="12000"/>
            </a:srgbClr>
          </a:solidFill>
          <a:ln w="9525">
            <a:solidFill>
              <a:srgbClr val="9C2C2C"/>
            </a:solidFill>
            <a:prstDash val="solid"/>
          </a:ln>
        </p:spPr>
      </p:sp>
      <p:sp>
        <p:nvSpPr>
          <p:cNvPr id="24" name="Text 22"/>
          <p:cNvSpPr/>
          <p:nvPr/>
        </p:nvSpPr>
        <p:spPr>
          <a:xfrm>
            <a:off x="3378708" y="5614416"/>
            <a:ext cx="936346" cy="219456"/>
          </a:xfrm>
          <a:prstGeom prst="rect">
            <a:avLst/>
          </a:prstGeom>
          <a:noFill/>
          <a:ln/>
        </p:spPr>
        <p:txBody>
          <a:bodyPr wrap="square" lIns="0" tIns="0" rIns="0" bIns="0" rtlCol="0" anchor="ctr"/>
          <a:lstStyle/>
          <a:p>
            <a:pPr algn="ctr" indent="0" marL="0">
              <a:buNone/>
            </a:pPr>
            <a:r>
              <a:rPr lang="en-US" sz="800" b="1" spc="60" kern="0" dirty="0">
                <a:solidFill>
                  <a:srgbClr val="9C2C2C"/>
                </a:solidFill>
                <a:latin typeface="Calibri" pitchFamily="34" charset="0"/>
                <a:ea typeface="Calibri" pitchFamily="34" charset="-122"/>
                <a:cs typeface="Calibri" pitchFamily="34" charset="-120"/>
              </a:rPr>
              <a:t>UNIDENTIFIED</a:t>
            </a:r>
            <a:endParaRPr lang="en-US" sz="800" dirty="0"/>
          </a:p>
        </p:txBody>
      </p:sp>
      <p:sp>
        <p:nvSpPr>
          <p:cNvPr id="25" name="Shape 23"/>
          <p:cNvSpPr/>
          <p:nvPr/>
        </p:nvSpPr>
        <p:spPr>
          <a:xfrm>
            <a:off x="5062118" y="1975104"/>
            <a:ext cx="2064715" cy="4005072"/>
          </a:xfrm>
          <a:prstGeom prst="roundRect">
            <a:avLst>
              <a:gd name="adj" fmla="val 2657"/>
            </a:avLst>
          </a:prstGeom>
          <a:solidFill>
            <a:srgbClr val="F6F2F5"/>
          </a:solidFill>
          <a:ln w="9525">
            <a:solidFill>
              <a:srgbClr val="E4DDE2"/>
            </a:solidFill>
            <a:prstDash val="solid"/>
          </a:ln>
        </p:spPr>
      </p:sp>
      <p:sp>
        <p:nvSpPr>
          <p:cNvPr id="26" name="Shape 24"/>
          <p:cNvSpPr/>
          <p:nvPr/>
        </p:nvSpPr>
        <p:spPr>
          <a:xfrm>
            <a:off x="5445252" y="2212848"/>
            <a:ext cx="1298448" cy="1298448"/>
          </a:xfrm>
          <a:prstGeom prst="ellipse">
            <a:avLst/>
          </a:prstGeom>
          <a:solidFill>
            <a:srgbClr val="EBE3E9"/>
          </a:solidFill>
          <a:ln w="19050">
            <a:solidFill>
              <a:srgbClr val="C9992B"/>
            </a:solidFill>
            <a:prstDash val="solid"/>
          </a:ln>
        </p:spPr>
      </p:sp>
      <p:sp>
        <p:nvSpPr>
          <p:cNvPr id="27" name="Text 25"/>
          <p:cNvSpPr/>
          <p:nvPr/>
        </p:nvSpPr>
        <p:spPr>
          <a:xfrm>
            <a:off x="5445252"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28" name="Text 26"/>
          <p:cNvSpPr/>
          <p:nvPr/>
        </p:nvSpPr>
        <p:spPr>
          <a:xfrm>
            <a:off x="5208422"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Khaiza Kuyo</a:t>
            </a:r>
            <a:endParaRPr lang="en-US" sz="1300" dirty="0"/>
          </a:p>
        </p:txBody>
      </p:sp>
      <p:sp>
        <p:nvSpPr>
          <p:cNvPr id="29" name="Text 27"/>
          <p:cNvSpPr/>
          <p:nvPr/>
        </p:nvSpPr>
        <p:spPr>
          <a:xfrm>
            <a:off x="5190134"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CÔTE D'IVOIRE</a:t>
            </a:r>
            <a:endParaRPr lang="en-US" sz="800" dirty="0"/>
          </a:p>
        </p:txBody>
      </p:sp>
      <p:sp>
        <p:nvSpPr>
          <p:cNvPr id="30" name="Text 28"/>
          <p:cNvSpPr/>
          <p:nvPr/>
        </p:nvSpPr>
        <p:spPr>
          <a:xfrm>
            <a:off x="5208422"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Actress, Ivorian series “Isabelle” — no title found</a:t>
            </a:r>
            <a:endParaRPr lang="en-US" sz="950" dirty="0"/>
          </a:p>
        </p:txBody>
      </p:sp>
      <p:sp>
        <p:nvSpPr>
          <p:cNvPr id="31" name="Text 29"/>
          <p:cNvSpPr/>
          <p:nvPr/>
        </p:nvSpPr>
        <p:spPr>
          <a:xfrm>
            <a:off x="5208422"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~33K</a:t>
            </a:r>
            <a:endParaRPr lang="en-US" sz="1100" dirty="0"/>
          </a:p>
        </p:txBody>
      </p:sp>
      <p:sp>
        <p:nvSpPr>
          <p:cNvPr id="32" name="Text 30"/>
          <p:cNvSpPr/>
          <p:nvPr/>
        </p:nvSpPr>
        <p:spPr>
          <a:xfrm>
            <a:off x="5171846"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~57K</a:t>
            </a:r>
            <a:endParaRPr lang="en-US" sz="800" dirty="0"/>
          </a:p>
        </p:txBody>
      </p:sp>
      <p:sp>
        <p:nvSpPr>
          <p:cNvPr id="33" name="Shape 31"/>
          <p:cNvSpPr/>
          <p:nvPr/>
        </p:nvSpPr>
        <p:spPr>
          <a:xfrm>
            <a:off x="5757977" y="5614416"/>
            <a:ext cx="672998" cy="219456"/>
          </a:xfrm>
          <a:prstGeom prst="roundRect">
            <a:avLst>
              <a:gd name="adj" fmla="val 50000"/>
            </a:avLst>
          </a:prstGeom>
          <a:solidFill>
            <a:srgbClr val="9C2C2C">
              <a:alpha val="12000"/>
            </a:srgbClr>
          </a:solidFill>
          <a:ln w="9525">
            <a:solidFill>
              <a:srgbClr val="9C2C2C"/>
            </a:solidFill>
            <a:prstDash val="solid"/>
          </a:ln>
        </p:spPr>
      </p:sp>
      <p:sp>
        <p:nvSpPr>
          <p:cNvPr id="34" name="Text 32"/>
          <p:cNvSpPr/>
          <p:nvPr/>
        </p:nvSpPr>
        <p:spPr>
          <a:xfrm>
            <a:off x="5757977" y="5614416"/>
            <a:ext cx="672998" cy="219456"/>
          </a:xfrm>
          <a:prstGeom prst="rect">
            <a:avLst/>
          </a:prstGeom>
          <a:noFill/>
          <a:ln/>
        </p:spPr>
        <p:txBody>
          <a:bodyPr wrap="square" lIns="0" tIns="0" rIns="0" bIns="0" rtlCol="0" anchor="ctr"/>
          <a:lstStyle/>
          <a:p>
            <a:pPr algn="ctr" indent="0" marL="0">
              <a:buNone/>
            </a:pPr>
            <a:r>
              <a:rPr lang="en-US" sz="800" b="1" spc="60" kern="0" dirty="0">
                <a:solidFill>
                  <a:srgbClr val="9C2C2C"/>
                </a:solidFill>
                <a:latin typeface="Calibri" pitchFamily="34" charset="0"/>
                <a:ea typeface="Calibri" pitchFamily="34" charset="-122"/>
                <a:cs typeface="Calibri" pitchFamily="34" charset="-120"/>
              </a:rPr>
              <a:t>NO TITLE</a:t>
            </a:r>
            <a:endParaRPr lang="en-US" sz="800" dirty="0"/>
          </a:p>
        </p:txBody>
      </p:sp>
      <p:sp>
        <p:nvSpPr>
          <p:cNvPr id="35" name="Shape 33"/>
          <p:cNvSpPr/>
          <p:nvPr/>
        </p:nvSpPr>
        <p:spPr>
          <a:xfrm>
            <a:off x="7309714" y="1975104"/>
            <a:ext cx="2064715" cy="4005072"/>
          </a:xfrm>
          <a:prstGeom prst="roundRect">
            <a:avLst>
              <a:gd name="adj" fmla="val 2657"/>
            </a:avLst>
          </a:prstGeom>
          <a:solidFill>
            <a:srgbClr val="F6F2F5"/>
          </a:solidFill>
          <a:ln w="9525">
            <a:solidFill>
              <a:srgbClr val="E4DDE2"/>
            </a:solidFill>
            <a:prstDash val="solid"/>
          </a:ln>
        </p:spPr>
      </p:sp>
      <p:sp>
        <p:nvSpPr>
          <p:cNvPr id="36" name="Shape 34"/>
          <p:cNvSpPr/>
          <p:nvPr/>
        </p:nvSpPr>
        <p:spPr>
          <a:xfrm>
            <a:off x="7692847" y="2212848"/>
            <a:ext cx="1298448" cy="1298448"/>
          </a:xfrm>
          <a:prstGeom prst="ellipse">
            <a:avLst/>
          </a:prstGeom>
          <a:solidFill>
            <a:srgbClr val="EBE3E9"/>
          </a:solidFill>
          <a:ln w="19050">
            <a:solidFill>
              <a:srgbClr val="C9992B"/>
            </a:solidFill>
            <a:prstDash val="solid"/>
          </a:ln>
        </p:spPr>
      </p:sp>
      <p:sp>
        <p:nvSpPr>
          <p:cNvPr id="37" name="Text 35"/>
          <p:cNvSpPr/>
          <p:nvPr/>
        </p:nvSpPr>
        <p:spPr>
          <a:xfrm>
            <a:off x="7692847" y="2212848"/>
            <a:ext cx="1298448" cy="1298448"/>
          </a:xfrm>
          <a:prstGeom prst="rect">
            <a:avLst/>
          </a:prstGeom>
          <a:noFill/>
          <a:ln/>
        </p:spPr>
        <p:txBody>
          <a:bodyPr wrap="square" lIns="0" tIns="0" rIns="0" bIns="0" rtlCol="0" anchor="ctr"/>
          <a:lstStyle/>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ADD</a:t>
            </a:r>
            <a:endParaRPr lang="en-US" sz="800" dirty="0"/>
          </a:p>
          <a:p>
            <a:pPr algn="ctr" indent="0" marL="0">
              <a:lnSpc>
                <a:spcPts val="1000"/>
              </a:lnSpc>
              <a:buNone/>
            </a:pPr>
            <a:r>
              <a:rPr lang="en-US" sz="800" b="1" spc="100" kern="0" dirty="0">
                <a:solidFill>
                  <a:srgbClr val="A2929C"/>
                </a:solidFill>
                <a:latin typeface="Calibri" pitchFamily="34" charset="0"/>
                <a:ea typeface="Calibri" pitchFamily="34" charset="-122"/>
                <a:cs typeface="Calibri" pitchFamily="34" charset="-120"/>
              </a:rPr>
              <a:t>PHOTO</a:t>
            </a:r>
            <a:endParaRPr lang="en-US" sz="800" dirty="0"/>
          </a:p>
        </p:txBody>
      </p:sp>
      <p:sp>
        <p:nvSpPr>
          <p:cNvPr id="38" name="Text 36"/>
          <p:cNvSpPr/>
          <p:nvPr/>
        </p:nvSpPr>
        <p:spPr>
          <a:xfrm>
            <a:off x="7456018" y="3639312"/>
            <a:ext cx="1772107" cy="566928"/>
          </a:xfrm>
          <a:prstGeom prst="rect">
            <a:avLst/>
          </a:prstGeom>
          <a:noFill/>
          <a:ln/>
        </p:spPr>
        <p:txBody>
          <a:bodyPr wrap="square" lIns="0" tIns="0" rIns="0" bIns="0" rtlCol="0" anchor="t"/>
          <a:lstStyle/>
          <a:p>
            <a:pPr algn="ctr" indent="0" marL="0">
              <a:lnSpc>
                <a:spcPts val="1500"/>
              </a:lnSpc>
              <a:buNone/>
            </a:pPr>
            <a:r>
              <a:rPr lang="en-US" sz="1300" b="1" dirty="0">
                <a:solidFill>
                  <a:srgbClr val="2E1428"/>
                </a:solidFill>
                <a:latin typeface="Cambria" pitchFamily="34" charset="0"/>
                <a:ea typeface="Cambria" pitchFamily="34" charset="-122"/>
                <a:cs typeface="Cambria" pitchFamily="34" charset="-120"/>
              </a:rPr>
              <a:t>Bella Zabaneh</a:t>
            </a:r>
            <a:endParaRPr lang="en-US" sz="1300" dirty="0"/>
          </a:p>
        </p:txBody>
      </p:sp>
      <p:sp>
        <p:nvSpPr>
          <p:cNvPr id="39" name="Text 37"/>
          <p:cNvSpPr/>
          <p:nvPr/>
        </p:nvSpPr>
        <p:spPr>
          <a:xfrm>
            <a:off x="7437730" y="4187952"/>
            <a:ext cx="1808683" cy="219456"/>
          </a:xfrm>
          <a:prstGeom prst="rect">
            <a:avLst/>
          </a:prstGeom>
          <a:noFill/>
          <a:ln/>
        </p:spPr>
        <p:txBody>
          <a:bodyPr wrap="square" lIns="0" tIns="0" rIns="0" bIns="0" rtlCol="0" anchor="ctr"/>
          <a:lstStyle/>
          <a:p>
            <a:pPr algn="ctr" indent="0" marL="0">
              <a:buNone/>
            </a:pPr>
            <a:r>
              <a:rPr lang="en-US" sz="800" b="1" spc="110" kern="0" dirty="0">
                <a:solidFill>
                  <a:srgbClr val="7A6E76"/>
                </a:solidFill>
                <a:latin typeface="Calibri" pitchFamily="34" charset="0"/>
                <a:ea typeface="Calibri" pitchFamily="34" charset="-122"/>
                <a:cs typeface="Calibri" pitchFamily="34" charset="-120"/>
              </a:rPr>
              <a:t>BELIZE</a:t>
            </a:r>
            <a:endParaRPr lang="en-US" sz="800" dirty="0"/>
          </a:p>
        </p:txBody>
      </p:sp>
      <p:sp>
        <p:nvSpPr>
          <p:cNvPr id="40" name="Text 38"/>
          <p:cNvSpPr/>
          <p:nvPr/>
        </p:nvSpPr>
        <p:spPr>
          <a:xfrm>
            <a:off x="7456018" y="4462272"/>
            <a:ext cx="1772107" cy="713232"/>
          </a:xfrm>
          <a:prstGeom prst="rect">
            <a:avLst/>
          </a:prstGeom>
          <a:noFill/>
          <a:ln/>
        </p:spPr>
        <p:txBody>
          <a:bodyPr wrap="square" lIns="0" tIns="0" rIns="0" bIns="0" rtlCol="0" anchor="t"/>
          <a:lstStyle/>
          <a:p>
            <a:pPr algn="ctr" indent="0" marL="0">
              <a:lnSpc>
                <a:spcPts val="1150"/>
              </a:lnSpc>
              <a:buNone/>
            </a:pPr>
            <a:r>
              <a:rPr lang="en-US" sz="950" dirty="0">
                <a:solidFill>
                  <a:srgbClr val="3A3038"/>
                </a:solidFill>
                <a:latin typeface="Calibri" pitchFamily="34" charset="0"/>
                <a:ea typeface="Calibri" pitchFamily="34" charset="-122"/>
                <a:cs typeface="Calibri" pitchFamily="34" charset="-120"/>
              </a:rPr>
              <a:t>Miss Universe Belize 2025</a:t>
            </a:r>
            <a:endParaRPr lang="en-US" sz="950" dirty="0"/>
          </a:p>
        </p:txBody>
      </p:sp>
      <p:sp>
        <p:nvSpPr>
          <p:cNvPr id="41" name="Text 39"/>
          <p:cNvSpPr/>
          <p:nvPr/>
        </p:nvSpPr>
        <p:spPr>
          <a:xfrm>
            <a:off x="7456018" y="5138928"/>
            <a:ext cx="1772107" cy="237744"/>
          </a:xfrm>
          <a:prstGeom prst="rect">
            <a:avLst/>
          </a:prstGeom>
          <a:noFill/>
          <a:ln/>
        </p:spPr>
        <p:txBody>
          <a:bodyPr wrap="square" lIns="0" tIns="0" rIns="0" bIns="0" rtlCol="0" anchor="ctr"/>
          <a:lstStyle/>
          <a:p>
            <a:pPr algn="ctr" indent="0" marL="0">
              <a:buNone/>
            </a:pPr>
            <a:r>
              <a:rPr lang="en-US" sz="1100" b="1" dirty="0">
                <a:solidFill>
                  <a:srgbClr val="C9992B"/>
                </a:solidFill>
                <a:latin typeface="Calibri" pitchFamily="34" charset="0"/>
                <a:ea typeface="Calibri" pitchFamily="34" charset="-122"/>
                <a:cs typeface="Calibri" pitchFamily="34" charset="-120"/>
              </a:rPr>
              <a:t>IG ~23K</a:t>
            </a:r>
            <a:endParaRPr lang="en-US" sz="1100" dirty="0"/>
          </a:p>
        </p:txBody>
      </p:sp>
      <p:sp>
        <p:nvSpPr>
          <p:cNvPr id="42" name="Text 40"/>
          <p:cNvSpPr/>
          <p:nvPr/>
        </p:nvSpPr>
        <p:spPr>
          <a:xfrm>
            <a:off x="7419442" y="5358384"/>
            <a:ext cx="1845259" cy="201168"/>
          </a:xfrm>
          <a:prstGeom prst="rect">
            <a:avLst/>
          </a:prstGeom>
          <a:noFill/>
          <a:ln/>
        </p:spPr>
        <p:txBody>
          <a:bodyPr wrap="square" lIns="0" tIns="0" rIns="0" bIns="0" rtlCol="0" anchor="ctr"/>
          <a:lstStyle/>
          <a:p>
            <a:pPr algn="ctr" indent="0" marL="0">
              <a:buNone/>
            </a:pPr>
            <a:r>
              <a:rPr lang="en-US" sz="800" dirty="0">
                <a:solidFill>
                  <a:srgbClr val="7A6E76"/>
                </a:solidFill>
                <a:latin typeface="Calibri" pitchFamily="34" charset="0"/>
                <a:ea typeface="Calibri" pitchFamily="34" charset="-122"/>
                <a:cs typeface="Calibri" pitchFamily="34" charset="-120"/>
              </a:rPr>
              <a:t>TikTok ~22K</a:t>
            </a:r>
            <a:endParaRPr lang="en-US" sz="800" dirty="0"/>
          </a:p>
        </p:txBody>
      </p:sp>
      <p:sp>
        <p:nvSpPr>
          <p:cNvPr id="43" name="Shape 41"/>
          <p:cNvSpPr/>
          <p:nvPr/>
        </p:nvSpPr>
        <p:spPr>
          <a:xfrm>
            <a:off x="7972654" y="5614416"/>
            <a:ext cx="738835" cy="219456"/>
          </a:xfrm>
          <a:prstGeom prst="roundRect">
            <a:avLst>
              <a:gd name="adj" fmla="val 50000"/>
            </a:avLst>
          </a:prstGeom>
          <a:solidFill>
            <a:srgbClr val="2E6B3E">
              <a:alpha val="12000"/>
            </a:srgbClr>
          </a:solidFill>
          <a:ln w="9525">
            <a:solidFill>
              <a:srgbClr val="2E6B3E"/>
            </a:solidFill>
            <a:prstDash val="solid"/>
          </a:ln>
        </p:spPr>
      </p:sp>
      <p:sp>
        <p:nvSpPr>
          <p:cNvPr id="44" name="Text 42"/>
          <p:cNvSpPr/>
          <p:nvPr/>
        </p:nvSpPr>
        <p:spPr>
          <a:xfrm>
            <a:off x="7972654" y="5614416"/>
            <a:ext cx="738835"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CONFIRMED</a:t>
            </a:r>
            <a:endParaRPr lang="en-US" sz="800" dirty="0"/>
          </a:p>
        </p:txBody>
      </p:sp>
      <p:sp>
        <p:nvSpPr>
          <p:cNvPr id="45" name="Text 43"/>
          <p:cNvSpPr/>
          <p:nvPr/>
        </p:nvSpPr>
        <p:spPr>
          <a:xfrm>
            <a:off x="566928" y="6163056"/>
            <a:ext cx="11055096" cy="274320"/>
          </a:xfrm>
          <a:prstGeom prst="rect">
            <a:avLst/>
          </a:prstGeom>
          <a:noFill/>
          <a:ln/>
        </p:spPr>
        <p:txBody>
          <a:bodyPr wrap="square" lIns="0" tIns="0" rIns="0" bIns="0" rtlCol="0" anchor="ctr"/>
          <a:lstStyle/>
          <a:p>
            <a:pPr indent="0" marL="0">
              <a:buNone/>
            </a:pPr>
            <a:r>
              <a:rPr lang="en-US" sz="1000" i="1" dirty="0">
                <a:solidFill>
                  <a:srgbClr val="7A6E76"/>
                </a:solidFill>
                <a:latin typeface="Calibri" pitchFamily="34" charset="0"/>
                <a:ea typeface="Calibri" pitchFamily="34" charset="-122"/>
                <a:cs typeface="Calibri" pitchFamily="34" charset="-120"/>
              </a:rPr>
              <a:t>Follower figures are approximate, from public search — verify against each media kit before any of this reaches a sponsor.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BEFORE ANYTHING IS SENT</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Seven corrections to the original list</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These came out of verifying every name against public record. Resolve them with whoever wrote the original notes.</a:t>
            </a:r>
            <a:endParaRPr lang="en-US" sz="1300" dirty="0"/>
          </a:p>
        </p:txBody>
      </p:sp>
      <p:sp>
        <p:nvSpPr>
          <p:cNvPr id="5" name="Shape 3"/>
          <p:cNvSpPr/>
          <p:nvPr/>
        </p:nvSpPr>
        <p:spPr>
          <a:xfrm>
            <a:off x="566928" y="1920240"/>
            <a:ext cx="274320" cy="274320"/>
          </a:xfrm>
          <a:prstGeom prst="ellipse">
            <a:avLst/>
          </a:prstGeom>
          <a:solidFill>
            <a:srgbClr val="C9992B"/>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9264" y="1883664"/>
            <a:ext cx="4988052" cy="256032"/>
          </a:xfrm>
          <a:prstGeom prst="rect">
            <a:avLst/>
          </a:prstGeom>
          <a:noFill/>
          <a:ln/>
        </p:spPr>
        <p:txBody>
          <a:bodyPr wrap="square" lIns="0" tIns="0" rIns="0" bIns="0" rtlCol="0" anchor="ctr"/>
          <a:lstStyle/>
          <a:p>
            <a:pPr indent="0" marL="0">
              <a:buNone/>
            </a:pPr>
            <a:r>
              <a:rPr lang="en-US" sz="1350" b="1" dirty="0">
                <a:solidFill>
                  <a:srgbClr val="9C2C2C"/>
                </a:solidFill>
                <a:latin typeface="Cambria" pitchFamily="34" charset="0"/>
                <a:ea typeface="Cambria" pitchFamily="34" charset="-122"/>
                <a:cs typeface="Cambria" pitchFamily="34" charset="-120"/>
              </a:rPr>
              <a:t>Two titles were swapped</a:t>
            </a:r>
            <a:endParaRPr lang="en-US" sz="1350" dirty="0"/>
          </a:p>
        </p:txBody>
      </p:sp>
      <p:sp>
        <p:nvSpPr>
          <p:cNvPr id="8" name="Text 6"/>
          <p:cNvSpPr/>
          <p:nvPr/>
        </p:nvSpPr>
        <p:spPr>
          <a:xfrm>
            <a:off x="969264" y="2157984"/>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Veena Praveenar Singh is Miss Universe Thailand 2025 and 1st Runner-Up at Miss Universe 2025. Isabella Menin is Miss Grand International 2022. The original notes attached Isabella's title to Veena.</a:t>
            </a:r>
            <a:endParaRPr lang="en-US" sz="1050" dirty="0"/>
          </a:p>
        </p:txBody>
      </p:sp>
      <p:sp>
        <p:nvSpPr>
          <p:cNvPr id="9" name="Shape 7"/>
          <p:cNvSpPr/>
          <p:nvPr/>
        </p:nvSpPr>
        <p:spPr>
          <a:xfrm>
            <a:off x="566928" y="2980944"/>
            <a:ext cx="274320" cy="274320"/>
          </a:xfrm>
          <a:prstGeom prst="ellipse">
            <a:avLst/>
          </a:prstGeom>
          <a:solidFill>
            <a:srgbClr val="C9992B"/>
          </a:solidFill>
          <a:ln/>
        </p:spPr>
      </p:sp>
      <p:sp>
        <p:nvSpPr>
          <p:cNvPr id="10" name="Text 8"/>
          <p:cNvSpPr/>
          <p:nvPr/>
        </p:nvSpPr>
        <p:spPr>
          <a:xfrm>
            <a:off x="566928" y="2980944"/>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9264" y="2944368"/>
            <a:ext cx="4988052" cy="256032"/>
          </a:xfrm>
          <a:prstGeom prst="rect">
            <a:avLst/>
          </a:prstGeom>
          <a:noFill/>
          <a:ln/>
        </p:spPr>
        <p:txBody>
          <a:bodyPr wrap="square" lIns="0" tIns="0" rIns="0" bIns="0" rtlCol="0" anchor="ctr"/>
          <a:lstStyle/>
          <a:p>
            <a:pPr indent="0" marL="0">
              <a:buNone/>
            </a:pPr>
            <a:r>
              <a:rPr lang="en-US" sz="1350" b="1" dirty="0">
                <a:solidFill>
                  <a:srgbClr val="9C2C2C"/>
                </a:solidFill>
                <a:latin typeface="Cambria" pitchFamily="34" charset="0"/>
                <a:ea typeface="Cambria" pitchFamily="34" charset="-122"/>
                <a:cs typeface="Cambria" pitchFamily="34" charset="-120"/>
              </a:rPr>
              <a:t>Three names have no pageant title</a:t>
            </a:r>
            <a:endParaRPr lang="en-US" sz="1350" dirty="0"/>
          </a:p>
        </p:txBody>
      </p:sp>
      <p:sp>
        <p:nvSpPr>
          <p:cNvPr id="12" name="Text 10"/>
          <p:cNvSpPr/>
          <p:nvPr/>
        </p:nvSpPr>
        <p:spPr>
          <a:xfrm>
            <a:off x="969264" y="3218688"/>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Khaiza Kuyo, Rebecca Biangue and Sephora Kongo return no title in public search — actress, content creator and influencer respectively. Not a reason to drop them; a reason to fix how they are described.</a:t>
            </a:r>
            <a:endParaRPr lang="en-US" sz="1050" dirty="0"/>
          </a:p>
        </p:txBody>
      </p:sp>
      <p:sp>
        <p:nvSpPr>
          <p:cNvPr id="13" name="Shape 11"/>
          <p:cNvSpPr/>
          <p:nvPr/>
        </p:nvSpPr>
        <p:spPr>
          <a:xfrm>
            <a:off x="566928" y="4041648"/>
            <a:ext cx="274320" cy="274320"/>
          </a:xfrm>
          <a:prstGeom prst="ellipse">
            <a:avLst/>
          </a:prstGeom>
          <a:solidFill>
            <a:srgbClr val="C9992B"/>
          </a:solidFill>
          <a:ln/>
        </p:spPr>
      </p:sp>
      <p:sp>
        <p:nvSpPr>
          <p:cNvPr id="14" name="Text 12"/>
          <p:cNvSpPr/>
          <p:nvPr/>
        </p:nvSpPr>
        <p:spPr>
          <a:xfrm>
            <a:off x="566928" y="4041648"/>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969264" y="4005072"/>
            <a:ext cx="4988052" cy="256032"/>
          </a:xfrm>
          <a:prstGeom prst="rect">
            <a:avLst/>
          </a:prstGeom>
          <a:noFill/>
          <a:ln/>
        </p:spPr>
        <p:txBody>
          <a:bodyPr wrap="square" lIns="0" tIns="0" rIns="0" bIns="0" rtlCol="0" anchor="ctr"/>
          <a:lstStyle/>
          <a:p>
            <a:pPr indent="0" marL="0">
              <a:buNone/>
            </a:pPr>
            <a:r>
              <a:rPr lang="en-US" sz="1350" b="1" dirty="0">
                <a:solidFill>
                  <a:srgbClr val="9C2C2C"/>
                </a:solidFill>
                <a:latin typeface="Cambria" pitchFamily="34" charset="0"/>
                <a:ea typeface="Cambria" pitchFamily="34" charset="-122"/>
                <a:cs typeface="Cambria" pitchFamily="34" charset="-120"/>
              </a:rPr>
              <a:t>“Tai” is unidentified</a:t>
            </a:r>
            <a:endParaRPr lang="en-US" sz="1350" dirty="0"/>
          </a:p>
        </p:txBody>
      </p:sp>
      <p:sp>
        <p:nvSpPr>
          <p:cNvPr id="16" name="Text 14"/>
          <p:cNvSpPr/>
          <p:nvPr/>
        </p:nvSpPr>
        <p:spPr>
          <a:xfrm>
            <a:off x="969264" y="4279392"/>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An Instagram handle and nothing else — no name, nationality or credentials. Needs a direct answer from the source of the original note.</a:t>
            </a:r>
            <a:endParaRPr lang="en-US" sz="1050" dirty="0"/>
          </a:p>
        </p:txBody>
      </p:sp>
      <p:sp>
        <p:nvSpPr>
          <p:cNvPr id="17" name="Shape 15"/>
          <p:cNvSpPr/>
          <p:nvPr/>
        </p:nvSpPr>
        <p:spPr>
          <a:xfrm>
            <a:off x="566928" y="5102352"/>
            <a:ext cx="274320" cy="274320"/>
          </a:xfrm>
          <a:prstGeom prst="ellipse">
            <a:avLst/>
          </a:prstGeom>
          <a:solidFill>
            <a:srgbClr val="C9992B"/>
          </a:solidFill>
          <a:ln/>
        </p:spPr>
      </p:sp>
      <p:sp>
        <p:nvSpPr>
          <p:cNvPr id="18" name="Text 16"/>
          <p:cNvSpPr/>
          <p:nvPr/>
        </p:nvSpPr>
        <p:spPr>
          <a:xfrm>
            <a:off x="566928" y="5102352"/>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969264" y="5065776"/>
            <a:ext cx="4988052" cy="256032"/>
          </a:xfrm>
          <a:prstGeom prst="rect">
            <a:avLst/>
          </a:prstGeom>
          <a:noFill/>
          <a:ln/>
        </p:spPr>
        <p:txBody>
          <a:bodyPr wrap="square" lIns="0" tIns="0" rIns="0" bIns="0" rtlCol="0" anchor="ctr"/>
          <a:lstStyle/>
          <a:p>
            <a:pPr indent="0" marL="0">
              <a:buNone/>
            </a:pPr>
            <a:r>
              <a:rPr lang="en-US" sz="1350" b="1" dirty="0">
                <a:solidFill>
                  <a:srgbClr val="9C2C2C"/>
                </a:solidFill>
                <a:latin typeface="Cambria" pitchFamily="34" charset="0"/>
                <a:ea typeface="Cambria" pitchFamily="34" charset="-122"/>
                <a:cs typeface="Cambria" pitchFamily="34" charset="-120"/>
              </a:rPr>
              <a:t>“+1 Angelique” is ambiguous</a:t>
            </a:r>
            <a:endParaRPr lang="en-US" sz="1350" dirty="0"/>
          </a:p>
        </p:txBody>
      </p:sp>
      <p:sp>
        <p:nvSpPr>
          <p:cNvPr id="20" name="Text 18"/>
          <p:cNvSpPr/>
          <p:nvPr/>
        </p:nvSpPr>
        <p:spPr>
          <a:xfrm>
            <a:off x="969264" y="5340096"/>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Either a second, different Angelique, or a stray reference back to Angélique Angarni-Filopon. Unresolved by research — do not guess.</a:t>
            </a:r>
            <a:endParaRPr lang="en-US" sz="1050" dirty="0"/>
          </a:p>
        </p:txBody>
      </p:sp>
      <p:sp>
        <p:nvSpPr>
          <p:cNvPr id="21" name="Shape 19"/>
          <p:cNvSpPr/>
          <p:nvPr/>
        </p:nvSpPr>
        <p:spPr>
          <a:xfrm>
            <a:off x="6231636" y="1920240"/>
            <a:ext cx="274320" cy="274320"/>
          </a:xfrm>
          <a:prstGeom prst="ellipse">
            <a:avLst/>
          </a:prstGeom>
          <a:solidFill>
            <a:srgbClr val="C9992B"/>
          </a:solidFill>
          <a:ln/>
        </p:spPr>
      </p:sp>
      <p:sp>
        <p:nvSpPr>
          <p:cNvPr id="22" name="Text 20"/>
          <p:cNvSpPr/>
          <p:nvPr/>
        </p:nvSpPr>
        <p:spPr>
          <a:xfrm>
            <a:off x="6231636" y="1920240"/>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6633972" y="1883664"/>
            <a:ext cx="4988052" cy="256032"/>
          </a:xfrm>
          <a:prstGeom prst="rect">
            <a:avLst/>
          </a:prstGeom>
          <a:noFill/>
          <a:ln/>
        </p:spPr>
        <p:txBody>
          <a:bodyPr wrap="square" lIns="0" tIns="0" rIns="0" bIns="0" rtlCol="0" anchor="ctr"/>
          <a:lstStyle/>
          <a:p>
            <a:pPr indent="0" marL="0">
              <a:buNone/>
            </a:pPr>
            <a:r>
              <a:rPr lang="en-US" sz="1350" b="1" dirty="0">
                <a:solidFill>
                  <a:srgbClr val="8A6A12"/>
                </a:solidFill>
                <a:latin typeface="Cambria" pitchFamily="34" charset="0"/>
                <a:ea typeface="Cambria" pitchFamily="34" charset="-122"/>
                <a:cs typeface="Cambria" pitchFamily="34" charset="-120"/>
              </a:rPr>
              <a:t>Angélique's title year is wrong</a:t>
            </a:r>
            <a:endParaRPr lang="en-US" sz="1350" dirty="0"/>
          </a:p>
        </p:txBody>
      </p:sp>
      <p:sp>
        <p:nvSpPr>
          <p:cNvPr id="24" name="Text 22"/>
          <p:cNvSpPr/>
          <p:nvPr/>
        </p:nvSpPr>
        <p:spPr>
          <a:xfrm>
            <a:off x="6633972" y="2157984"/>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Miss France 2025, not 2019. First Martinican winner and the oldest woman ever crowned — both worth using in promotion.</a:t>
            </a:r>
            <a:endParaRPr lang="en-US" sz="1050" dirty="0"/>
          </a:p>
        </p:txBody>
      </p:sp>
      <p:sp>
        <p:nvSpPr>
          <p:cNvPr id="25" name="Shape 23"/>
          <p:cNvSpPr/>
          <p:nvPr/>
        </p:nvSpPr>
        <p:spPr>
          <a:xfrm>
            <a:off x="6231636" y="2980944"/>
            <a:ext cx="274320" cy="274320"/>
          </a:xfrm>
          <a:prstGeom prst="ellipse">
            <a:avLst/>
          </a:prstGeom>
          <a:solidFill>
            <a:srgbClr val="C9992B"/>
          </a:solidFill>
          <a:ln/>
        </p:spPr>
      </p:sp>
      <p:sp>
        <p:nvSpPr>
          <p:cNvPr id="26" name="Text 24"/>
          <p:cNvSpPr/>
          <p:nvPr/>
        </p:nvSpPr>
        <p:spPr>
          <a:xfrm>
            <a:off x="6231636" y="2980944"/>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6633972" y="2944368"/>
            <a:ext cx="4988052" cy="256032"/>
          </a:xfrm>
          <a:prstGeom prst="rect">
            <a:avLst/>
          </a:prstGeom>
          <a:noFill/>
          <a:ln/>
        </p:spPr>
        <p:txBody>
          <a:bodyPr wrap="square" lIns="0" tIns="0" rIns="0" bIns="0" rtlCol="0" anchor="ctr"/>
          <a:lstStyle/>
          <a:p>
            <a:pPr indent="0" marL="0">
              <a:buNone/>
            </a:pPr>
            <a:r>
              <a:rPr lang="en-US" sz="1350" b="1" dirty="0">
                <a:solidFill>
                  <a:srgbClr val="8A6A12"/>
                </a:solidFill>
                <a:latin typeface="Cambria" pitchFamily="34" charset="0"/>
                <a:ea typeface="Cambria" pitchFamily="34" charset="-122"/>
                <a:cs typeface="Cambria" pitchFamily="34" charset="-120"/>
              </a:rPr>
              <a:t>Olivia's affiliation changed</a:t>
            </a:r>
            <a:endParaRPr lang="en-US" sz="1350" dirty="0"/>
          </a:p>
        </p:txBody>
      </p:sp>
      <p:sp>
        <p:nvSpPr>
          <p:cNvPr id="28" name="Text 26"/>
          <p:cNvSpPr/>
          <p:nvPr/>
        </p:nvSpPr>
        <p:spPr>
          <a:xfrm>
            <a:off x="6633972" y="3218688"/>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She resigned the Miss Universe Africa &amp; Oceania title on 24 November 2025, keeping Miss Côte d'Ivoire. Confirm her status before any Miss Universe branded material.</a:t>
            </a:r>
            <a:endParaRPr lang="en-US" sz="1050" dirty="0"/>
          </a:p>
        </p:txBody>
      </p:sp>
      <p:sp>
        <p:nvSpPr>
          <p:cNvPr id="29" name="Shape 27"/>
          <p:cNvSpPr/>
          <p:nvPr/>
        </p:nvSpPr>
        <p:spPr>
          <a:xfrm>
            <a:off x="6231636" y="4041648"/>
            <a:ext cx="274320" cy="274320"/>
          </a:xfrm>
          <a:prstGeom prst="ellipse">
            <a:avLst/>
          </a:prstGeom>
          <a:solidFill>
            <a:srgbClr val="C9992B"/>
          </a:solidFill>
          <a:ln/>
        </p:spPr>
      </p:sp>
      <p:sp>
        <p:nvSpPr>
          <p:cNvPr id="30" name="Text 28"/>
          <p:cNvSpPr/>
          <p:nvPr/>
        </p:nvSpPr>
        <p:spPr>
          <a:xfrm>
            <a:off x="6231636" y="4041648"/>
            <a:ext cx="274320" cy="274320"/>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6633972" y="4005072"/>
            <a:ext cx="4988052" cy="256032"/>
          </a:xfrm>
          <a:prstGeom prst="rect">
            <a:avLst/>
          </a:prstGeom>
          <a:noFill/>
          <a:ln/>
        </p:spPr>
        <p:txBody>
          <a:bodyPr wrap="square" lIns="0" tIns="0" rIns="0" bIns="0" rtlCol="0" anchor="ctr"/>
          <a:lstStyle/>
          <a:p>
            <a:pPr indent="0" marL="0">
              <a:buNone/>
            </a:pPr>
            <a:r>
              <a:rPr lang="en-US" sz="1350" b="1" dirty="0">
                <a:solidFill>
                  <a:srgbClr val="8A6A12"/>
                </a:solidFill>
                <a:latin typeface="Cambria" pitchFamily="34" charset="0"/>
                <a:ea typeface="Cambria" pitchFamily="34" charset="-122"/>
                <a:cs typeface="Cambria" pitchFamily="34" charset="-120"/>
              </a:rPr>
              <a:t>Nadia Mejia is not the singer</a:t>
            </a:r>
            <a:endParaRPr lang="en-US" sz="1350" dirty="0"/>
          </a:p>
        </p:txBody>
      </p:sp>
      <p:sp>
        <p:nvSpPr>
          <p:cNvPr id="32" name="Text 30"/>
          <p:cNvSpPr/>
          <p:nvPr/>
        </p:nvSpPr>
        <p:spPr>
          <a:xfrm>
            <a:off x="6633972" y="4279392"/>
            <a:ext cx="4933188" cy="731520"/>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This is Nadia Grace Eicher Mejía-Webb, Miss Universe Ecuador 2025 — not the Chilean singer of the same name, in case that was the intent.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LEG ONE  ·  26–31 DECEMBER</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Côte d'Ivoire</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Abidjan, Assinie, Sassandra, Yamoussoukro. The strongest leg on paper — one confirmed anchor and an existing talent relationship.</a:t>
            </a:r>
            <a:endParaRPr lang="en-US" sz="1300" dirty="0"/>
          </a:p>
        </p:txBody>
      </p:sp>
      <p:sp>
        <p:nvSpPr>
          <p:cNvPr id="5" name="Shape 3"/>
          <p:cNvSpPr/>
          <p:nvPr/>
        </p:nvSpPr>
        <p:spPr>
          <a:xfrm>
            <a:off x="566928" y="1975104"/>
            <a:ext cx="128016" cy="128016"/>
          </a:xfrm>
          <a:prstGeom prst="ellipse">
            <a:avLst/>
          </a:prstGeom>
          <a:solidFill>
            <a:srgbClr val="C25E2A"/>
          </a:solidFill>
          <a:ln/>
        </p:spPr>
      </p:sp>
      <p:sp>
        <p:nvSpPr>
          <p:cNvPr id="6" name="Text 4"/>
          <p:cNvSpPr/>
          <p:nvPr/>
        </p:nvSpPr>
        <p:spPr>
          <a:xfrm>
            <a:off x="786384" y="1865376"/>
            <a:ext cx="3282696" cy="310896"/>
          </a:xfrm>
          <a:prstGeom prst="rect">
            <a:avLst/>
          </a:prstGeom>
          <a:noFill/>
          <a:ln/>
        </p:spPr>
        <p:txBody>
          <a:bodyPr wrap="square" lIns="0" tIns="0" rIns="0" bIns="0" rtlCol="0" anchor="ctr"/>
          <a:lstStyle/>
          <a:p>
            <a:pPr indent="0" marL="0">
              <a:buNone/>
            </a:pPr>
            <a:r>
              <a:rPr lang="en-US" sz="1000" b="1" spc="180" kern="0" dirty="0">
                <a:solidFill>
                  <a:srgbClr val="C25E2A"/>
                </a:solidFill>
                <a:latin typeface="Calibri" pitchFamily="34" charset="0"/>
                <a:ea typeface="Calibri" pitchFamily="34" charset="-122"/>
                <a:cs typeface="Calibri" pitchFamily="34" charset="-120"/>
              </a:rPr>
              <a:t>EVENTS</a:t>
            </a:r>
            <a:endParaRPr lang="en-US" sz="1000" dirty="0"/>
          </a:p>
        </p:txBody>
      </p:sp>
      <p:sp>
        <p:nvSpPr>
          <p:cNvPr id="7" name="Text 5"/>
          <p:cNvSpPr/>
          <p:nvPr/>
        </p:nvSpPr>
        <p:spPr>
          <a:xfrm>
            <a:off x="566928"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Mother Africa Festival</a:t>
            </a:r>
            <a:endParaRPr lang="en-US" sz="1200" dirty="0"/>
          </a:p>
        </p:txBody>
      </p:sp>
      <p:sp>
        <p:nvSpPr>
          <p:cNvPr id="8" name="Text 6"/>
          <p:cNvSpPr/>
          <p:nvPr/>
        </p:nvSpPr>
        <p:spPr>
          <a:xfrm>
            <a:off x="566928"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27–28 Dec, Marcory Zone 4. ~40,000 attendees, 4th edition. Founder: Kimany Tayoro.</a:t>
            </a:r>
            <a:endParaRPr lang="en-US" sz="950" dirty="0"/>
          </a:p>
        </p:txBody>
      </p:sp>
      <p:sp>
        <p:nvSpPr>
          <p:cNvPr id="9" name="Text 7"/>
          <p:cNvSpPr/>
          <p:nvPr/>
        </p:nvSpPr>
        <p:spPr>
          <a:xfrm>
            <a:off x="566928"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NYE fireworks</a:t>
            </a:r>
            <a:endParaRPr lang="en-US" sz="1200" dirty="0"/>
          </a:p>
        </p:txBody>
      </p:sp>
      <p:sp>
        <p:nvSpPr>
          <p:cNvPr id="10" name="Text 8"/>
          <p:cNvSpPr/>
          <p:nvPr/>
        </p:nvSpPr>
        <p:spPr>
          <a:xfrm>
            <a:off x="566928"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31 Dec, Général de Gaulle bridge over the Ebrié Lagoon. Free, city-wide, PM in attendance.</a:t>
            </a:r>
            <a:endParaRPr lang="en-US" sz="950" dirty="0"/>
          </a:p>
        </p:txBody>
      </p:sp>
      <p:sp>
        <p:nvSpPr>
          <p:cNvPr id="11" name="Text 9"/>
          <p:cNvSpPr/>
          <p:nvPr/>
        </p:nvSpPr>
        <p:spPr>
          <a:xfrm>
            <a:off x="566928"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Sofitel Réveillon gala</a:t>
            </a:r>
            <a:endParaRPr lang="en-US" sz="1200" dirty="0"/>
          </a:p>
        </p:txBody>
      </p:sp>
      <p:sp>
        <p:nvSpPr>
          <p:cNvPr id="12" name="Text 10"/>
          <p:cNvSpPr/>
          <p:nvPr/>
        </p:nvSpPr>
        <p:spPr>
          <a:xfrm>
            <a:off x="566928"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31 Dec, Congress Palace. Past editions featured Magic System live.</a:t>
            </a:r>
            <a:endParaRPr lang="en-US" sz="950" dirty="0"/>
          </a:p>
        </p:txBody>
      </p:sp>
      <p:sp>
        <p:nvSpPr>
          <p:cNvPr id="13" name="Text 11"/>
          <p:cNvSpPr/>
          <p:nvPr/>
        </p:nvSpPr>
        <p:spPr>
          <a:xfrm>
            <a:off x="566928"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Nahiko, Assinie</a:t>
            </a:r>
            <a:endParaRPr lang="en-US" sz="1200" dirty="0"/>
          </a:p>
        </p:txBody>
      </p:sp>
      <p:sp>
        <p:nvSpPr>
          <p:cNvPr id="14" name="Text 12"/>
          <p:cNvSpPr/>
          <p:nvPr/>
        </p:nvSpPr>
        <p:spPr>
          <a:xfrm>
            <a:off x="566928"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Smaller lagoon-side NYE dinner — the VIP alternative to Abidjan.</a:t>
            </a:r>
            <a:endParaRPr lang="en-US" sz="950" dirty="0"/>
          </a:p>
        </p:txBody>
      </p:sp>
      <p:sp>
        <p:nvSpPr>
          <p:cNvPr id="15" name="Shape 13"/>
          <p:cNvSpPr/>
          <p:nvPr/>
        </p:nvSpPr>
        <p:spPr>
          <a:xfrm>
            <a:off x="4343400" y="1975104"/>
            <a:ext cx="128016" cy="128016"/>
          </a:xfrm>
          <a:prstGeom prst="ellipse">
            <a:avLst/>
          </a:prstGeom>
          <a:solidFill>
            <a:srgbClr val="C25E2A"/>
          </a:solidFill>
          <a:ln/>
        </p:spPr>
      </p:sp>
      <p:sp>
        <p:nvSpPr>
          <p:cNvPr id="16" name="Text 14"/>
          <p:cNvSpPr/>
          <p:nvPr/>
        </p:nvSpPr>
        <p:spPr>
          <a:xfrm>
            <a:off x="4562856" y="1865376"/>
            <a:ext cx="3282696" cy="310896"/>
          </a:xfrm>
          <a:prstGeom prst="rect">
            <a:avLst/>
          </a:prstGeom>
          <a:noFill/>
          <a:ln/>
        </p:spPr>
        <p:txBody>
          <a:bodyPr wrap="square" lIns="0" tIns="0" rIns="0" bIns="0" rtlCol="0" anchor="ctr"/>
          <a:lstStyle/>
          <a:p>
            <a:pPr indent="0" marL="0">
              <a:buNone/>
            </a:pPr>
            <a:r>
              <a:rPr lang="en-US" sz="1000" b="1" spc="180" kern="0" dirty="0">
                <a:solidFill>
                  <a:srgbClr val="C25E2A"/>
                </a:solidFill>
                <a:latin typeface="Calibri" pitchFamily="34" charset="0"/>
                <a:ea typeface="Calibri" pitchFamily="34" charset="-122"/>
                <a:cs typeface="Calibri" pitchFamily="34" charset="-120"/>
              </a:rPr>
              <a:t>SPONSOR TARGETS</a:t>
            </a:r>
            <a:endParaRPr lang="en-US" sz="1000" dirty="0"/>
          </a:p>
        </p:txBody>
      </p:sp>
      <p:sp>
        <p:nvSpPr>
          <p:cNvPr id="17" name="Text 15"/>
          <p:cNvSpPr/>
          <p:nvPr/>
        </p:nvSpPr>
        <p:spPr>
          <a:xfrm>
            <a:off x="4343400"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Orange Côte d'Ivoire</a:t>
            </a:r>
            <a:endParaRPr lang="en-US" sz="1200" dirty="0"/>
          </a:p>
        </p:txBody>
      </p:sp>
      <p:sp>
        <p:nvSpPr>
          <p:cNvPr id="18" name="Text 16"/>
          <p:cNvSpPr/>
          <p:nvPr/>
        </p:nvSpPr>
        <p:spPr>
          <a:xfrm>
            <a:off x="4343400"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Runs a formal sponsorship programme — sponsors events as policy.</a:t>
            </a:r>
            <a:endParaRPr lang="en-US" sz="950" dirty="0"/>
          </a:p>
        </p:txBody>
      </p:sp>
      <p:sp>
        <p:nvSpPr>
          <p:cNvPr id="19" name="Text 17"/>
          <p:cNvSpPr/>
          <p:nvPr/>
        </p:nvSpPr>
        <p:spPr>
          <a:xfrm>
            <a:off x="4343400"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Air Côte d'Ivoire</a:t>
            </a:r>
            <a:endParaRPr lang="en-US" sz="1200" dirty="0"/>
          </a:p>
        </p:txBody>
      </p:sp>
      <p:sp>
        <p:nvSpPr>
          <p:cNvPr id="20" name="Text 18"/>
          <p:cNvSpPr/>
          <p:nvPr/>
        </p:nvSpPr>
        <p:spPr>
          <a:xfrm>
            <a:off x="4343400"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AFCON 2023 official carrier; backed the Children of Africa gala via the First Lady's office.</a:t>
            </a:r>
            <a:endParaRPr lang="en-US" sz="950" dirty="0"/>
          </a:p>
        </p:txBody>
      </p:sp>
      <p:sp>
        <p:nvSpPr>
          <p:cNvPr id="21" name="Text 19"/>
          <p:cNvSpPr/>
          <p:nvPr/>
        </p:nvSpPr>
        <p:spPr>
          <a:xfrm>
            <a:off x="4343400"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Solibra</a:t>
            </a:r>
            <a:endParaRPr lang="en-US" sz="1200" dirty="0"/>
          </a:p>
        </p:txBody>
      </p:sp>
      <p:sp>
        <p:nvSpPr>
          <p:cNvPr id="22" name="Text 20"/>
          <p:cNvSpPr/>
          <p:nvPr/>
        </p:nvSpPr>
        <p:spPr>
          <a:xfrm>
            <a:off x="4343400"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Ivorian since 1955, FEMUA sponsor history, marking its 70th anniversary.</a:t>
            </a:r>
            <a:endParaRPr lang="en-US" sz="950" dirty="0"/>
          </a:p>
        </p:txBody>
      </p:sp>
      <p:sp>
        <p:nvSpPr>
          <p:cNvPr id="23" name="Text 21"/>
          <p:cNvSpPr/>
          <p:nvPr/>
        </p:nvSpPr>
        <p:spPr>
          <a:xfrm>
            <a:off x="4343400"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Brassivoire</a:t>
            </a:r>
            <a:endParaRPr lang="en-US" sz="1200" dirty="0"/>
          </a:p>
        </p:txBody>
      </p:sp>
      <p:sp>
        <p:nvSpPr>
          <p:cNvPr id="24" name="Text 22"/>
          <p:cNvSpPr/>
          <p:nvPr/>
        </p:nvSpPr>
        <p:spPr>
          <a:xfrm>
            <a:off x="4343400"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Heineken/CFAO joint venture, runs its own brand events in Abidjan.</a:t>
            </a:r>
            <a:endParaRPr lang="en-US" sz="950" dirty="0"/>
          </a:p>
        </p:txBody>
      </p:sp>
      <p:sp>
        <p:nvSpPr>
          <p:cNvPr id="25" name="Shape 23"/>
          <p:cNvSpPr/>
          <p:nvPr/>
        </p:nvSpPr>
        <p:spPr>
          <a:xfrm>
            <a:off x="8119872" y="1975104"/>
            <a:ext cx="128016" cy="128016"/>
          </a:xfrm>
          <a:prstGeom prst="ellipse">
            <a:avLst/>
          </a:prstGeom>
          <a:solidFill>
            <a:srgbClr val="C25E2A"/>
          </a:solidFill>
          <a:ln/>
        </p:spPr>
      </p:sp>
      <p:sp>
        <p:nvSpPr>
          <p:cNvPr id="26" name="Text 24"/>
          <p:cNvSpPr/>
          <p:nvPr/>
        </p:nvSpPr>
        <p:spPr>
          <a:xfrm>
            <a:off x="8339328" y="1865376"/>
            <a:ext cx="3282696" cy="310896"/>
          </a:xfrm>
          <a:prstGeom prst="rect">
            <a:avLst/>
          </a:prstGeom>
          <a:noFill/>
          <a:ln/>
        </p:spPr>
        <p:txBody>
          <a:bodyPr wrap="square" lIns="0" tIns="0" rIns="0" bIns="0" rtlCol="0" anchor="ctr"/>
          <a:lstStyle/>
          <a:p>
            <a:pPr indent="0" marL="0">
              <a:buNone/>
            </a:pPr>
            <a:r>
              <a:rPr lang="en-US" sz="1000" b="1" spc="180" kern="0" dirty="0">
                <a:solidFill>
                  <a:srgbClr val="C25E2A"/>
                </a:solidFill>
                <a:latin typeface="Calibri" pitchFamily="34" charset="0"/>
                <a:ea typeface="Calibri" pitchFamily="34" charset="-122"/>
                <a:cs typeface="Calibri" pitchFamily="34" charset="-120"/>
              </a:rPr>
              <a:t>PARTNERS &amp; LOGISTICS</a:t>
            </a:r>
            <a:endParaRPr lang="en-US" sz="1000" dirty="0"/>
          </a:p>
        </p:txBody>
      </p:sp>
      <p:sp>
        <p:nvSpPr>
          <p:cNvPr id="27" name="Text 25"/>
          <p:cNvSpPr/>
          <p:nvPr/>
        </p:nvSpPr>
        <p:spPr>
          <a:xfrm>
            <a:off x="8119872"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La Sunday</a:t>
            </a:r>
            <a:endParaRPr lang="en-US" sz="1200" dirty="0"/>
          </a:p>
        </p:txBody>
      </p:sp>
      <p:sp>
        <p:nvSpPr>
          <p:cNvPr id="28" name="Text 26"/>
          <p:cNvSpPr/>
          <p:nvPr/>
        </p:nvSpPr>
        <p:spPr>
          <a:xfrm>
            <a:off x="8119872"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Abidjan's signature day-party brand, 6,000+ attendees on the lagoon.</a:t>
            </a:r>
            <a:endParaRPr lang="en-US" sz="950" dirty="0"/>
          </a:p>
        </p:txBody>
      </p:sp>
      <p:sp>
        <p:nvSpPr>
          <p:cNvPr id="29" name="Text 27"/>
          <p:cNvSpPr/>
          <p:nvPr/>
        </p:nvSpPr>
        <p:spPr>
          <a:xfrm>
            <a:off x="8119872"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Ivory Jet Services</a:t>
            </a:r>
            <a:endParaRPr lang="en-US" sz="1200" dirty="0"/>
          </a:p>
        </p:txBody>
      </p:sp>
      <p:sp>
        <p:nvSpPr>
          <p:cNvPr id="30" name="Text 28"/>
          <p:cNvSpPr/>
          <p:nvPr/>
        </p:nvSpPr>
        <p:spPr>
          <a:xfrm>
            <a:off x="8119872"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New Abidjan base, European AOC, Falcon and Legacy aircraft. Matches the charter in the brief.</a:t>
            </a:r>
            <a:endParaRPr lang="en-US" sz="950" dirty="0"/>
          </a:p>
        </p:txBody>
      </p:sp>
      <p:sp>
        <p:nvSpPr>
          <p:cNvPr id="31" name="Text 29"/>
          <p:cNvSpPr/>
          <p:nvPr/>
        </p:nvSpPr>
        <p:spPr>
          <a:xfrm>
            <a:off x="8119872"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Sofitel · Radisson Blu · Hôtel Président</a:t>
            </a:r>
            <a:endParaRPr lang="en-US" sz="1200" dirty="0"/>
          </a:p>
        </p:txBody>
      </p:sp>
      <p:sp>
        <p:nvSpPr>
          <p:cNvPr id="32" name="Text 30"/>
          <p:cNvSpPr/>
          <p:nvPr/>
        </p:nvSpPr>
        <p:spPr>
          <a:xfrm>
            <a:off x="8119872"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Assinie boutique: Nahiko, Maison d'Akoula, Key 19.</a:t>
            </a:r>
            <a:endParaRPr lang="en-US" sz="950" dirty="0"/>
          </a:p>
        </p:txBody>
      </p:sp>
      <p:sp>
        <p:nvSpPr>
          <p:cNvPr id="33" name="Text 31"/>
          <p:cNvSpPr/>
          <p:nvPr/>
        </p:nvSpPr>
        <p:spPr>
          <a:xfrm>
            <a:off x="8119872"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Monbolide · WINO · Auto Ivoire</a:t>
            </a:r>
            <a:endParaRPr lang="en-US" sz="1200" dirty="0"/>
          </a:p>
        </p:txBody>
      </p:sp>
      <p:sp>
        <p:nvSpPr>
          <p:cNvPr id="34" name="Text 32"/>
          <p:cNvSpPr/>
          <p:nvPr/>
        </p:nvSpPr>
        <p:spPr>
          <a:xfrm>
            <a:off x="8119872"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Chauffeur fleets. Sedan ~55–70k FCFA/day, SUV ~80–120k.</a:t>
            </a:r>
            <a:endParaRPr lang="en-US" sz="950" dirty="0"/>
          </a:p>
        </p:txBody>
      </p:sp>
      <p:sp>
        <p:nvSpPr>
          <p:cNvPr id="35" name="Shape 33"/>
          <p:cNvSpPr/>
          <p:nvPr/>
        </p:nvSpPr>
        <p:spPr>
          <a:xfrm>
            <a:off x="566928" y="5541264"/>
            <a:ext cx="11055096" cy="713232"/>
          </a:xfrm>
          <a:prstGeom prst="roundRect">
            <a:avLst>
              <a:gd name="adj" fmla="val 7692"/>
            </a:avLst>
          </a:prstGeom>
          <a:solidFill>
            <a:srgbClr val="FBF1F1"/>
          </a:solidFill>
          <a:ln w="9525">
            <a:solidFill>
              <a:srgbClr val="E8CFCF"/>
            </a:solidFill>
            <a:prstDash val="solid"/>
          </a:ln>
        </p:spPr>
      </p:sp>
      <p:sp>
        <p:nvSpPr>
          <p:cNvPr id="36" name="Text 34"/>
          <p:cNvSpPr/>
          <p:nvPr/>
        </p:nvSpPr>
        <p:spPr>
          <a:xfrm>
            <a:off x="786384" y="5705856"/>
            <a:ext cx="731520" cy="237744"/>
          </a:xfrm>
          <a:prstGeom prst="rect">
            <a:avLst/>
          </a:prstGeom>
          <a:noFill/>
          <a:ln/>
        </p:spPr>
        <p:txBody>
          <a:bodyPr wrap="square" lIns="0" tIns="0" rIns="0" bIns="0" rtlCol="0" anchor="ctr"/>
          <a:lstStyle/>
          <a:p>
            <a:pPr indent="0" marL="0">
              <a:buNone/>
            </a:pPr>
            <a:r>
              <a:rPr lang="en-US" sz="900" b="1" spc="140" kern="0" dirty="0">
                <a:solidFill>
                  <a:srgbClr val="9C2C2C"/>
                </a:solidFill>
                <a:latin typeface="Calibri" pitchFamily="34" charset="0"/>
                <a:ea typeface="Calibri" pitchFamily="34" charset="-122"/>
                <a:cs typeface="Calibri" pitchFamily="34" charset="-120"/>
              </a:rPr>
              <a:t>WATCH</a:t>
            </a:r>
            <a:endParaRPr lang="en-US" sz="900" dirty="0"/>
          </a:p>
        </p:txBody>
      </p:sp>
      <p:sp>
        <p:nvSpPr>
          <p:cNvPr id="37" name="Text 35"/>
          <p:cNvSpPr/>
          <p:nvPr/>
        </p:nvSpPr>
        <p:spPr>
          <a:xfrm>
            <a:off x="1536192" y="5632704"/>
            <a:ext cx="9829800" cy="548640"/>
          </a:xfrm>
          <a:prstGeom prst="rect">
            <a:avLst/>
          </a:prstGeom>
          <a:noFill/>
          <a:ln/>
        </p:spPr>
        <p:txBody>
          <a:bodyPr wrap="square" lIns="0" tIns="0" rIns="0" bIns="0" rtlCol="0" anchor="ctr"/>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Grand-Bassam's beaches were closed on 30 December last year after an oil spill, reopening under restrictions from 1 January. If a Bassam beach day stays on the route, check live status before committing.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LEG TWO  ·  EARLY JANUARY</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Ghana</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Cities and dates still open. The whole season runs under a government programme — that is the fastest way in.</a:t>
            </a:r>
            <a:endParaRPr lang="en-US" sz="1300" dirty="0"/>
          </a:p>
        </p:txBody>
      </p:sp>
      <p:sp>
        <p:nvSpPr>
          <p:cNvPr id="5" name="Shape 3"/>
          <p:cNvSpPr/>
          <p:nvPr/>
        </p:nvSpPr>
        <p:spPr>
          <a:xfrm>
            <a:off x="566928" y="1975104"/>
            <a:ext cx="128016" cy="128016"/>
          </a:xfrm>
          <a:prstGeom prst="ellipse">
            <a:avLst/>
          </a:prstGeom>
          <a:solidFill>
            <a:srgbClr val="A32C2C"/>
          </a:solidFill>
          <a:ln/>
        </p:spPr>
      </p:sp>
      <p:sp>
        <p:nvSpPr>
          <p:cNvPr id="6" name="Text 4"/>
          <p:cNvSpPr/>
          <p:nvPr/>
        </p:nvSpPr>
        <p:spPr>
          <a:xfrm>
            <a:off x="786384" y="1865376"/>
            <a:ext cx="3282696" cy="310896"/>
          </a:xfrm>
          <a:prstGeom prst="rect">
            <a:avLst/>
          </a:prstGeom>
          <a:noFill/>
          <a:ln/>
        </p:spPr>
        <p:txBody>
          <a:bodyPr wrap="square" lIns="0" tIns="0" rIns="0" bIns="0" rtlCol="0" anchor="ctr"/>
          <a:lstStyle/>
          <a:p>
            <a:pPr indent="0" marL="0">
              <a:buNone/>
            </a:pPr>
            <a:r>
              <a:rPr lang="en-US" sz="1000" b="1" spc="180" kern="0" dirty="0">
                <a:solidFill>
                  <a:srgbClr val="A32C2C"/>
                </a:solidFill>
                <a:latin typeface="Calibri" pitchFamily="34" charset="0"/>
                <a:ea typeface="Calibri" pitchFamily="34" charset="-122"/>
                <a:cs typeface="Calibri" pitchFamily="34" charset="-120"/>
              </a:rPr>
              <a:t>EVENTS</a:t>
            </a:r>
            <a:endParaRPr lang="en-US" sz="1000" dirty="0"/>
          </a:p>
        </p:txBody>
      </p:sp>
      <p:sp>
        <p:nvSpPr>
          <p:cNvPr id="7" name="Text 5"/>
          <p:cNvSpPr/>
          <p:nvPr/>
        </p:nvSpPr>
        <p:spPr>
          <a:xfrm>
            <a:off x="566928"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“December in GH”</a:t>
            </a:r>
            <a:endParaRPr lang="en-US" sz="1200" dirty="0"/>
          </a:p>
        </p:txBody>
      </p:sp>
      <p:sp>
        <p:nvSpPr>
          <p:cNvPr id="8" name="Text 6"/>
          <p:cNvSpPr/>
          <p:nvPr/>
        </p:nvSpPr>
        <p:spPr>
          <a:xfrm>
            <a:off x="566928"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Government programme, 1 Dec – 3 Jan, run by the Ghana Tourism Authority. Open call for event partners.</a:t>
            </a:r>
            <a:endParaRPr lang="en-US" sz="950" dirty="0"/>
          </a:p>
        </p:txBody>
      </p:sp>
      <p:sp>
        <p:nvSpPr>
          <p:cNvPr id="9" name="Text 7"/>
          <p:cNvSpPr/>
          <p:nvPr/>
        </p:nvSpPr>
        <p:spPr>
          <a:xfrm>
            <a:off x="566928"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AfroFuture Fest</a:t>
            </a:r>
            <a:endParaRPr lang="en-US" sz="1200" dirty="0"/>
          </a:p>
        </p:txBody>
      </p:sp>
      <p:sp>
        <p:nvSpPr>
          <p:cNvPr id="10" name="Text 8"/>
          <p:cNvSpPr/>
          <p:nvPr/>
        </p:nvSpPr>
        <p:spPr>
          <a:xfrm>
            <a:off x="566928"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~27–29 Dec, El Wak Stadium. ~31,000 attendees. Run by Culture Management Group.</a:t>
            </a:r>
            <a:endParaRPr lang="en-US" sz="950" dirty="0"/>
          </a:p>
        </p:txBody>
      </p:sp>
      <p:sp>
        <p:nvSpPr>
          <p:cNvPr id="11" name="Text 9"/>
          <p:cNvSpPr/>
          <p:nvPr/>
        </p:nvSpPr>
        <p:spPr>
          <a:xfrm>
            <a:off x="566928"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Detty Rave</a:t>
            </a:r>
            <a:endParaRPr lang="en-US" sz="1200" dirty="0"/>
          </a:p>
        </p:txBody>
      </p:sp>
      <p:sp>
        <p:nvSpPr>
          <p:cNvPr id="12" name="Text 10"/>
          <p:cNvSpPr/>
          <p:nvPr/>
        </p:nvSpPr>
        <p:spPr>
          <a:xfrm>
            <a:off x="566928"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~27 Dec, Untamed Empire. Mr Eazi's event — the biggest celebrity draw on the calendar.</a:t>
            </a:r>
            <a:endParaRPr lang="en-US" sz="950" dirty="0"/>
          </a:p>
        </p:txBody>
      </p:sp>
      <p:sp>
        <p:nvSpPr>
          <p:cNvPr id="13" name="Text 11"/>
          <p:cNvSpPr/>
          <p:nvPr/>
        </p:nvSpPr>
        <p:spPr>
          <a:xfrm>
            <a:off x="566928"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Polo Beach Club NYE</a:t>
            </a:r>
            <a:endParaRPr lang="en-US" sz="1200" dirty="0"/>
          </a:p>
        </p:txBody>
      </p:sp>
      <p:sp>
        <p:nvSpPr>
          <p:cNvPr id="14" name="Text 12"/>
          <p:cNvSpPr/>
          <p:nvPr/>
        </p:nvSpPr>
        <p:spPr>
          <a:xfrm>
            <a:off x="566928"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31 Dec, Labadi. Tiers from ₵500 to ₵70,000 — a useful VIP pricing benchmark.</a:t>
            </a:r>
            <a:endParaRPr lang="en-US" sz="950" dirty="0"/>
          </a:p>
        </p:txBody>
      </p:sp>
      <p:sp>
        <p:nvSpPr>
          <p:cNvPr id="15" name="Shape 13"/>
          <p:cNvSpPr/>
          <p:nvPr/>
        </p:nvSpPr>
        <p:spPr>
          <a:xfrm>
            <a:off x="4343400" y="1975104"/>
            <a:ext cx="128016" cy="128016"/>
          </a:xfrm>
          <a:prstGeom prst="ellipse">
            <a:avLst/>
          </a:prstGeom>
          <a:solidFill>
            <a:srgbClr val="A32C2C"/>
          </a:solidFill>
          <a:ln/>
        </p:spPr>
      </p:sp>
      <p:sp>
        <p:nvSpPr>
          <p:cNvPr id="16" name="Text 14"/>
          <p:cNvSpPr/>
          <p:nvPr/>
        </p:nvSpPr>
        <p:spPr>
          <a:xfrm>
            <a:off x="4562856" y="1865376"/>
            <a:ext cx="3282696" cy="310896"/>
          </a:xfrm>
          <a:prstGeom prst="rect">
            <a:avLst/>
          </a:prstGeom>
          <a:noFill/>
          <a:ln/>
        </p:spPr>
        <p:txBody>
          <a:bodyPr wrap="square" lIns="0" tIns="0" rIns="0" bIns="0" rtlCol="0" anchor="ctr"/>
          <a:lstStyle/>
          <a:p>
            <a:pPr indent="0" marL="0">
              <a:buNone/>
            </a:pPr>
            <a:r>
              <a:rPr lang="en-US" sz="1000" b="1" spc="180" kern="0" dirty="0">
                <a:solidFill>
                  <a:srgbClr val="A32C2C"/>
                </a:solidFill>
                <a:latin typeface="Calibri" pitchFamily="34" charset="0"/>
                <a:ea typeface="Calibri" pitchFamily="34" charset="-122"/>
                <a:cs typeface="Calibri" pitchFamily="34" charset="-120"/>
              </a:rPr>
              <a:t>SPONSOR TARGETS</a:t>
            </a:r>
            <a:endParaRPr lang="en-US" sz="1000" dirty="0"/>
          </a:p>
        </p:txBody>
      </p:sp>
      <p:sp>
        <p:nvSpPr>
          <p:cNvPr id="17" name="Text 15"/>
          <p:cNvSpPr/>
          <p:nvPr/>
        </p:nvSpPr>
        <p:spPr>
          <a:xfrm>
            <a:off x="4343400"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Ghana Tourism Authority</a:t>
            </a:r>
            <a:endParaRPr lang="en-US" sz="1200" dirty="0"/>
          </a:p>
        </p:txBody>
      </p:sp>
      <p:sp>
        <p:nvSpPr>
          <p:cNvPr id="18" name="Text 16"/>
          <p:cNvSpPr/>
          <p:nvPr/>
        </p:nvSpPr>
        <p:spPr>
          <a:xfrm>
            <a:off x="4343400"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Runs the season and takes partner proposals. Also the route to Miss Diaspora Ghana.</a:t>
            </a:r>
            <a:endParaRPr lang="en-US" sz="950" dirty="0"/>
          </a:p>
        </p:txBody>
      </p:sp>
      <p:sp>
        <p:nvSpPr>
          <p:cNvPr id="19" name="Text 17"/>
          <p:cNvSpPr/>
          <p:nvPr/>
        </p:nvSpPr>
        <p:spPr>
          <a:xfrm>
            <a:off x="4343400"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MTN Ghana</a:t>
            </a:r>
            <a:endParaRPr lang="en-US" sz="1200" dirty="0"/>
          </a:p>
        </p:txBody>
      </p:sp>
      <p:sp>
        <p:nvSpPr>
          <p:cNvPr id="20" name="Text 18"/>
          <p:cNvSpPr/>
          <p:nvPr/>
        </p:nvSpPr>
        <p:spPr>
          <a:xfrm>
            <a:off x="4343400"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Deep concert sponsorship history, plus a foundation — sponsor and impact partner in one.</a:t>
            </a:r>
            <a:endParaRPr lang="en-US" sz="950" dirty="0"/>
          </a:p>
        </p:txBody>
      </p:sp>
      <p:sp>
        <p:nvSpPr>
          <p:cNvPr id="21" name="Text 19"/>
          <p:cNvSpPr/>
          <p:nvPr/>
        </p:nvSpPr>
        <p:spPr>
          <a:xfrm>
            <a:off x="4343400"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AirtelTigo</a:t>
            </a:r>
            <a:endParaRPr lang="en-US" sz="1200" dirty="0"/>
          </a:p>
        </p:txBody>
      </p:sp>
      <p:sp>
        <p:nvSpPr>
          <p:cNvPr id="22" name="Text 20"/>
          <p:cNvSpPr/>
          <p:nvPr/>
        </p:nvSpPr>
        <p:spPr>
          <a:xfrm>
            <a:off x="4343400"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First operator to launch eSIM in Ghana — direct fit for a connectivity deal.</a:t>
            </a:r>
            <a:endParaRPr lang="en-US" sz="950" dirty="0"/>
          </a:p>
        </p:txBody>
      </p:sp>
      <p:sp>
        <p:nvSpPr>
          <p:cNvPr id="23" name="Text 21"/>
          <p:cNvSpPr/>
          <p:nvPr/>
        </p:nvSpPr>
        <p:spPr>
          <a:xfrm>
            <a:off x="4343400"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Guinness Ghana · Kasapreko</a:t>
            </a:r>
            <a:endParaRPr lang="en-US" sz="1200" dirty="0"/>
          </a:p>
        </p:txBody>
      </p:sp>
      <p:sp>
        <p:nvSpPr>
          <p:cNvPr id="24" name="Text 22"/>
          <p:cNvSpPr/>
          <p:nvPr/>
        </p:nvSpPr>
        <p:spPr>
          <a:xfrm>
            <a:off x="4343400"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Dominant beverage players. No confirmed festival tie-in — needs direct outreach.</a:t>
            </a:r>
            <a:endParaRPr lang="en-US" sz="950" dirty="0"/>
          </a:p>
        </p:txBody>
      </p:sp>
      <p:sp>
        <p:nvSpPr>
          <p:cNvPr id="25" name="Shape 23"/>
          <p:cNvSpPr/>
          <p:nvPr/>
        </p:nvSpPr>
        <p:spPr>
          <a:xfrm>
            <a:off x="8119872" y="1975104"/>
            <a:ext cx="128016" cy="128016"/>
          </a:xfrm>
          <a:prstGeom prst="ellipse">
            <a:avLst/>
          </a:prstGeom>
          <a:solidFill>
            <a:srgbClr val="A32C2C"/>
          </a:solidFill>
          <a:ln/>
        </p:spPr>
      </p:sp>
      <p:sp>
        <p:nvSpPr>
          <p:cNvPr id="26" name="Text 24"/>
          <p:cNvSpPr/>
          <p:nvPr/>
        </p:nvSpPr>
        <p:spPr>
          <a:xfrm>
            <a:off x="8339328" y="1865376"/>
            <a:ext cx="3282696" cy="310896"/>
          </a:xfrm>
          <a:prstGeom prst="rect">
            <a:avLst/>
          </a:prstGeom>
          <a:noFill/>
          <a:ln/>
        </p:spPr>
        <p:txBody>
          <a:bodyPr wrap="square" lIns="0" tIns="0" rIns="0" bIns="0" rtlCol="0" anchor="ctr"/>
          <a:lstStyle/>
          <a:p>
            <a:pPr indent="0" marL="0">
              <a:buNone/>
            </a:pPr>
            <a:r>
              <a:rPr lang="en-US" sz="1000" b="1" spc="180" kern="0" dirty="0">
                <a:solidFill>
                  <a:srgbClr val="A32C2C"/>
                </a:solidFill>
                <a:latin typeface="Calibri" pitchFamily="34" charset="0"/>
                <a:ea typeface="Calibri" pitchFamily="34" charset="-122"/>
                <a:cs typeface="Calibri" pitchFamily="34" charset="-120"/>
              </a:rPr>
              <a:t>PARTNERS &amp; LOGISTICS</a:t>
            </a:r>
            <a:endParaRPr lang="en-US" sz="1000" dirty="0"/>
          </a:p>
        </p:txBody>
      </p:sp>
      <p:sp>
        <p:nvSpPr>
          <p:cNvPr id="27" name="Text 25"/>
          <p:cNvSpPr/>
          <p:nvPr/>
        </p:nvSpPr>
        <p:spPr>
          <a:xfrm>
            <a:off x="8119872"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Culture Management Group</a:t>
            </a:r>
            <a:endParaRPr lang="en-US" sz="1200" dirty="0"/>
          </a:p>
        </p:txBody>
      </p:sp>
      <p:sp>
        <p:nvSpPr>
          <p:cNvPr id="28" name="Text 26"/>
          <p:cNvSpPr/>
          <p:nvPr/>
        </p:nvSpPr>
        <p:spPr>
          <a:xfrm>
            <a:off x="8119872"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The most internationally professionalised producer in the market.</a:t>
            </a:r>
            <a:endParaRPr lang="en-US" sz="950" dirty="0"/>
          </a:p>
        </p:txBody>
      </p:sp>
      <p:sp>
        <p:nvSpPr>
          <p:cNvPr id="29" name="Text 27"/>
          <p:cNvSpPr/>
          <p:nvPr/>
        </p:nvSpPr>
        <p:spPr>
          <a:xfrm>
            <a:off x="8119872"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McDan Aviation</a:t>
            </a:r>
            <a:endParaRPr lang="en-US" sz="1200" dirty="0"/>
          </a:p>
        </p:txBody>
      </p:sp>
      <p:sp>
        <p:nvSpPr>
          <p:cNvPr id="30" name="Text 28"/>
          <p:cNvSpPr/>
          <p:nvPr/>
        </p:nvSpPr>
        <p:spPr>
          <a:xfrm>
            <a:off x="8119872"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Ghana's dominant private-jet terminal at Kotoka. 2025 Aviation Company of the Year.</a:t>
            </a:r>
            <a:endParaRPr lang="en-US" sz="950" dirty="0"/>
          </a:p>
        </p:txBody>
      </p:sp>
      <p:sp>
        <p:nvSpPr>
          <p:cNvPr id="31" name="Text 29"/>
          <p:cNvSpPr/>
          <p:nvPr/>
        </p:nvSpPr>
        <p:spPr>
          <a:xfrm>
            <a:off x="8119872"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Kempinski · Labadi Beach · Mövenpick</a:t>
            </a:r>
            <a:endParaRPr lang="en-US" sz="1200" dirty="0"/>
          </a:p>
        </p:txBody>
      </p:sp>
      <p:sp>
        <p:nvSpPr>
          <p:cNvPr id="32" name="Text 30"/>
          <p:cNvSpPr/>
          <p:nvPr/>
        </p:nvSpPr>
        <p:spPr>
          <a:xfrm>
            <a:off x="8119872"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The standard luxury shortlist for high-end Accra groups.</a:t>
            </a:r>
            <a:endParaRPr lang="en-US" sz="950" dirty="0"/>
          </a:p>
        </p:txBody>
      </p:sp>
      <p:sp>
        <p:nvSpPr>
          <p:cNvPr id="33" name="Text 31"/>
          <p:cNvSpPr/>
          <p:nvPr/>
        </p:nvSpPr>
        <p:spPr>
          <a:xfrm>
            <a:off x="8119872"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SOS Children's Villages Ghana</a:t>
            </a:r>
            <a:endParaRPr lang="en-US" sz="1200" dirty="0"/>
          </a:p>
        </p:txBody>
      </p:sp>
      <p:sp>
        <p:nvSpPr>
          <p:cNvPr id="34" name="Text 32"/>
          <p:cNvSpPr/>
          <p:nvPr/>
        </p:nvSpPr>
        <p:spPr>
          <a:xfrm>
            <a:off x="8119872"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11 locations since 1974 — the most credible foundation partner found.</a:t>
            </a:r>
            <a:endParaRPr lang="en-US" sz="950" dirty="0"/>
          </a:p>
        </p:txBody>
      </p:sp>
      <p:sp>
        <p:nvSpPr>
          <p:cNvPr id="35" name="Shape 33"/>
          <p:cNvSpPr/>
          <p:nvPr/>
        </p:nvSpPr>
        <p:spPr>
          <a:xfrm>
            <a:off x="566928" y="5541264"/>
            <a:ext cx="11055096" cy="713232"/>
          </a:xfrm>
          <a:prstGeom prst="roundRect">
            <a:avLst>
              <a:gd name="adj" fmla="val 7692"/>
            </a:avLst>
          </a:prstGeom>
          <a:solidFill>
            <a:srgbClr val="FBF1F1"/>
          </a:solidFill>
          <a:ln w="9525">
            <a:solidFill>
              <a:srgbClr val="E8CFCF"/>
            </a:solidFill>
            <a:prstDash val="solid"/>
          </a:ln>
        </p:spPr>
      </p:sp>
      <p:sp>
        <p:nvSpPr>
          <p:cNvPr id="36" name="Text 34"/>
          <p:cNvSpPr/>
          <p:nvPr/>
        </p:nvSpPr>
        <p:spPr>
          <a:xfrm>
            <a:off x="786384" y="5705856"/>
            <a:ext cx="731520" cy="237744"/>
          </a:xfrm>
          <a:prstGeom prst="rect">
            <a:avLst/>
          </a:prstGeom>
          <a:noFill/>
          <a:ln/>
        </p:spPr>
        <p:txBody>
          <a:bodyPr wrap="square" lIns="0" tIns="0" rIns="0" bIns="0" rtlCol="0" anchor="ctr"/>
          <a:lstStyle/>
          <a:p>
            <a:pPr indent="0" marL="0">
              <a:buNone/>
            </a:pPr>
            <a:r>
              <a:rPr lang="en-US" sz="900" b="1" spc="140" kern="0" dirty="0">
                <a:solidFill>
                  <a:srgbClr val="9C2C2C"/>
                </a:solidFill>
                <a:latin typeface="Calibri" pitchFamily="34" charset="0"/>
                <a:ea typeface="Calibri" pitchFamily="34" charset="-122"/>
                <a:cs typeface="Calibri" pitchFamily="34" charset="-120"/>
              </a:rPr>
              <a:t>WATCH</a:t>
            </a:r>
            <a:endParaRPr lang="en-US" sz="900" dirty="0"/>
          </a:p>
        </p:txBody>
      </p:sp>
      <p:sp>
        <p:nvSpPr>
          <p:cNvPr id="37" name="Text 35"/>
          <p:cNvSpPr/>
          <p:nvPr/>
        </p:nvSpPr>
        <p:spPr>
          <a:xfrm>
            <a:off x="1536192" y="5632704"/>
            <a:ext cx="9829800" cy="548640"/>
          </a:xfrm>
          <a:prstGeom prst="rect">
            <a:avLst/>
          </a:prstGeom>
          <a:noFill/>
          <a:ln/>
        </p:spPr>
        <p:txBody>
          <a:bodyPr wrap="square" lIns="0" tIns="0" rIns="0" bIns="0" rtlCol="0" anchor="ctr"/>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No 2026 dates are published yet for AfroFuture, Detty Rave, Afro Nation or the December concerts — they typically drop in September and October. Everything above is last season's pattern. Cape Coast is confirmed weak for December nightlife: treat it as a daytime heritage stop only.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LEG THREE  ·  NEW YEAR TO 10 JANUARY</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Nigeria</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Lagos and Abuja. The most event-dense leg, and the only one with confirmed active sponsors in the space.</a:t>
            </a:r>
            <a:endParaRPr lang="en-US" sz="1300" dirty="0"/>
          </a:p>
        </p:txBody>
      </p:sp>
      <p:sp>
        <p:nvSpPr>
          <p:cNvPr id="5" name="Shape 3"/>
          <p:cNvSpPr/>
          <p:nvPr/>
        </p:nvSpPr>
        <p:spPr>
          <a:xfrm>
            <a:off x="566928" y="1975104"/>
            <a:ext cx="128016" cy="128016"/>
          </a:xfrm>
          <a:prstGeom prst="ellipse">
            <a:avLst/>
          </a:prstGeom>
          <a:solidFill>
            <a:srgbClr val="2E6B3E"/>
          </a:solidFill>
          <a:ln/>
        </p:spPr>
      </p:sp>
      <p:sp>
        <p:nvSpPr>
          <p:cNvPr id="6" name="Text 4"/>
          <p:cNvSpPr/>
          <p:nvPr/>
        </p:nvSpPr>
        <p:spPr>
          <a:xfrm>
            <a:off x="786384" y="1865376"/>
            <a:ext cx="3282696" cy="310896"/>
          </a:xfrm>
          <a:prstGeom prst="rect">
            <a:avLst/>
          </a:prstGeom>
          <a:noFill/>
          <a:ln/>
        </p:spPr>
        <p:txBody>
          <a:bodyPr wrap="square" lIns="0" tIns="0" rIns="0" bIns="0" rtlCol="0" anchor="ctr"/>
          <a:lstStyle/>
          <a:p>
            <a:pPr indent="0" marL="0">
              <a:buNone/>
            </a:pPr>
            <a:r>
              <a:rPr lang="en-US" sz="1000" b="1" spc="180" kern="0" dirty="0">
                <a:solidFill>
                  <a:srgbClr val="2E6B3E"/>
                </a:solidFill>
                <a:latin typeface="Calibri" pitchFamily="34" charset="0"/>
                <a:ea typeface="Calibri" pitchFamily="34" charset="-122"/>
                <a:cs typeface="Calibri" pitchFamily="34" charset="-120"/>
              </a:rPr>
              <a:t>EVENTS</a:t>
            </a:r>
            <a:endParaRPr lang="en-US" sz="1000" dirty="0"/>
          </a:p>
        </p:txBody>
      </p:sp>
      <p:sp>
        <p:nvSpPr>
          <p:cNvPr id="7" name="Text 5"/>
          <p:cNvSpPr/>
          <p:nvPr/>
        </p:nvSpPr>
        <p:spPr>
          <a:xfrm>
            <a:off x="566928"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Flytime Fest</a:t>
            </a:r>
            <a:endParaRPr lang="en-US" sz="1200" dirty="0"/>
          </a:p>
        </p:txBody>
      </p:sp>
      <p:sp>
        <p:nvSpPr>
          <p:cNvPr id="8" name="Text 6"/>
          <p:cNvSpPr/>
          <p:nvPr/>
        </p:nvSpPr>
        <p:spPr>
          <a:xfrm>
            <a:off x="566928"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21–25 Dec, Eko Convention Centre. 21 years running; Davido closed the 2025 edition.</a:t>
            </a:r>
            <a:endParaRPr lang="en-US" sz="950" dirty="0"/>
          </a:p>
        </p:txBody>
      </p:sp>
      <p:sp>
        <p:nvSpPr>
          <p:cNvPr id="9" name="Text 7"/>
          <p:cNvSpPr/>
          <p:nvPr/>
        </p:nvSpPr>
        <p:spPr>
          <a:xfrm>
            <a:off x="566928"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Livespot Detty December Fest</a:t>
            </a:r>
            <a:endParaRPr lang="en-US" sz="1200" dirty="0"/>
          </a:p>
        </p:txBody>
      </p:sp>
      <p:sp>
        <p:nvSpPr>
          <p:cNvPr id="10" name="Text 8"/>
          <p:cNvSpPr/>
          <p:nvPr/>
        </p:nvSpPr>
        <p:spPr>
          <a:xfrm>
            <a:off x="566928"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6–31 Dec. Co-produced with the Federal Ministry of Arts and Culture.</a:t>
            </a:r>
            <a:endParaRPr lang="en-US" sz="950" dirty="0"/>
          </a:p>
        </p:txBody>
      </p:sp>
      <p:sp>
        <p:nvSpPr>
          <p:cNvPr id="11" name="Text 9"/>
          <p:cNvSpPr/>
          <p:nvPr/>
        </p:nvSpPr>
        <p:spPr>
          <a:xfrm>
            <a:off x="566928"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Abuja Groovy December</a:t>
            </a:r>
            <a:endParaRPr lang="en-US" sz="1200" dirty="0"/>
          </a:p>
        </p:txBody>
      </p:sp>
      <p:sp>
        <p:nvSpPr>
          <p:cNvPr id="12" name="Text 10"/>
          <p:cNvSpPr/>
          <p:nvPr/>
        </p:nvSpPr>
        <p:spPr>
          <a:xfrm>
            <a:off x="566928"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15–31 Dec, Moshood Abiola Stadium. Includes a “Miss Groovy December” pageant.</a:t>
            </a:r>
            <a:endParaRPr lang="en-US" sz="950" dirty="0"/>
          </a:p>
        </p:txBody>
      </p:sp>
      <p:sp>
        <p:nvSpPr>
          <p:cNvPr id="13" name="Text 11"/>
          <p:cNvSpPr/>
          <p:nvPr/>
        </p:nvSpPr>
        <p:spPr>
          <a:xfrm>
            <a:off x="566928"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Transcorp Hilton Abuja</a:t>
            </a:r>
            <a:endParaRPr lang="en-US" sz="1200" dirty="0"/>
          </a:p>
        </p:txBody>
      </p:sp>
      <p:sp>
        <p:nvSpPr>
          <p:cNvPr id="14" name="Text 12"/>
          <p:cNvSpPr/>
          <p:nvPr/>
        </p:nvSpPr>
        <p:spPr>
          <a:xfrm>
            <a:off x="566928"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Runs its own NYE gala and a New Year's Day show — a turnkey Abuja venue partner.</a:t>
            </a:r>
            <a:endParaRPr lang="en-US" sz="950" dirty="0"/>
          </a:p>
        </p:txBody>
      </p:sp>
      <p:sp>
        <p:nvSpPr>
          <p:cNvPr id="15" name="Shape 13"/>
          <p:cNvSpPr/>
          <p:nvPr/>
        </p:nvSpPr>
        <p:spPr>
          <a:xfrm>
            <a:off x="4343400" y="1975104"/>
            <a:ext cx="128016" cy="128016"/>
          </a:xfrm>
          <a:prstGeom prst="ellipse">
            <a:avLst/>
          </a:prstGeom>
          <a:solidFill>
            <a:srgbClr val="2E6B3E"/>
          </a:solidFill>
          <a:ln/>
        </p:spPr>
      </p:sp>
      <p:sp>
        <p:nvSpPr>
          <p:cNvPr id="16" name="Text 14"/>
          <p:cNvSpPr/>
          <p:nvPr/>
        </p:nvSpPr>
        <p:spPr>
          <a:xfrm>
            <a:off x="4562856" y="1865376"/>
            <a:ext cx="3282696" cy="310896"/>
          </a:xfrm>
          <a:prstGeom prst="rect">
            <a:avLst/>
          </a:prstGeom>
          <a:noFill/>
          <a:ln/>
        </p:spPr>
        <p:txBody>
          <a:bodyPr wrap="square" lIns="0" tIns="0" rIns="0" bIns="0" rtlCol="0" anchor="ctr"/>
          <a:lstStyle/>
          <a:p>
            <a:pPr indent="0" marL="0">
              <a:buNone/>
            </a:pPr>
            <a:r>
              <a:rPr lang="en-US" sz="1000" b="1" spc="180" kern="0" dirty="0">
                <a:solidFill>
                  <a:srgbClr val="2E6B3E"/>
                </a:solidFill>
                <a:latin typeface="Calibri" pitchFamily="34" charset="0"/>
                <a:ea typeface="Calibri" pitchFamily="34" charset="-122"/>
                <a:cs typeface="Calibri" pitchFamily="34" charset="-120"/>
              </a:rPr>
              <a:t>SPONSOR TARGETS</a:t>
            </a:r>
            <a:endParaRPr lang="en-US" sz="1000" dirty="0"/>
          </a:p>
        </p:txBody>
      </p:sp>
      <p:sp>
        <p:nvSpPr>
          <p:cNvPr id="17" name="Text 15"/>
          <p:cNvSpPr/>
          <p:nvPr/>
        </p:nvSpPr>
        <p:spPr>
          <a:xfrm>
            <a:off x="4343400"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Wema Bank (ALAT)</a:t>
            </a:r>
            <a:endParaRPr lang="en-US" sz="1200" dirty="0"/>
          </a:p>
        </p:txBody>
      </p:sp>
      <p:sp>
        <p:nvSpPr>
          <p:cNvPr id="18" name="Text 16"/>
          <p:cNvSpPr/>
          <p:nvPr/>
        </p:nvSpPr>
        <p:spPr>
          <a:xfrm>
            <a:off x="4343400"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Confirmed headline Detty December sponsor last season; also backed Davido's tour.</a:t>
            </a:r>
            <a:endParaRPr lang="en-US" sz="950" dirty="0"/>
          </a:p>
        </p:txBody>
      </p:sp>
      <p:sp>
        <p:nvSpPr>
          <p:cNvPr id="19" name="Text 17"/>
          <p:cNvSpPr/>
          <p:nvPr/>
        </p:nvSpPr>
        <p:spPr>
          <a:xfrm>
            <a:off x="4343400"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Martell · Guinness · Hennessy</a:t>
            </a:r>
            <a:endParaRPr lang="en-US" sz="1200" dirty="0"/>
          </a:p>
        </p:txBody>
      </p:sp>
      <p:sp>
        <p:nvSpPr>
          <p:cNvPr id="20" name="Text 18"/>
          <p:cNvSpPr/>
          <p:nvPr/>
        </p:nvSpPr>
        <p:spPr>
          <a:xfrm>
            <a:off x="4343400"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All three ran confirmed premium activations. Hennessy owns its own event property.</a:t>
            </a:r>
            <a:endParaRPr lang="en-US" sz="950" dirty="0"/>
          </a:p>
        </p:txBody>
      </p:sp>
      <p:sp>
        <p:nvSpPr>
          <p:cNvPr id="21" name="Text 19"/>
          <p:cNvSpPr/>
          <p:nvPr/>
        </p:nvSpPr>
        <p:spPr>
          <a:xfrm>
            <a:off x="4343400"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MTN · Airtel · Glo</a:t>
            </a:r>
            <a:endParaRPr lang="en-US" sz="1200" dirty="0"/>
          </a:p>
        </p:txBody>
      </p:sp>
      <p:sp>
        <p:nvSpPr>
          <p:cNvPr id="22" name="Text 20"/>
          <p:cNvSpPr/>
          <p:nvPr/>
        </p:nvSpPr>
        <p:spPr>
          <a:xfrm>
            <a:off x="4343400"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Heavy festive-data marketing. No confirmed festival deal — strong pitch targets.</a:t>
            </a:r>
            <a:endParaRPr lang="en-US" sz="950" dirty="0"/>
          </a:p>
        </p:txBody>
      </p:sp>
      <p:sp>
        <p:nvSpPr>
          <p:cNvPr id="23" name="Text 21"/>
          <p:cNvSpPr/>
          <p:nvPr/>
        </p:nvSpPr>
        <p:spPr>
          <a:xfrm>
            <a:off x="4343400"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Eko Hotels &amp; Suites</a:t>
            </a:r>
            <a:endParaRPr lang="en-US" sz="1200" dirty="0"/>
          </a:p>
        </p:txBody>
      </p:sp>
      <p:sp>
        <p:nvSpPr>
          <p:cNvPr id="24" name="Text 22"/>
          <p:cNvSpPr/>
          <p:nvPr/>
        </p:nvSpPr>
        <p:spPr>
          <a:xfrm>
            <a:off x="4343400"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Runs its own December festival property; GM speaks publicly on Detty December.</a:t>
            </a:r>
            <a:endParaRPr lang="en-US" sz="950" dirty="0"/>
          </a:p>
        </p:txBody>
      </p:sp>
      <p:sp>
        <p:nvSpPr>
          <p:cNvPr id="25" name="Shape 23"/>
          <p:cNvSpPr/>
          <p:nvPr/>
        </p:nvSpPr>
        <p:spPr>
          <a:xfrm>
            <a:off x="8119872" y="1975104"/>
            <a:ext cx="128016" cy="128016"/>
          </a:xfrm>
          <a:prstGeom prst="ellipse">
            <a:avLst/>
          </a:prstGeom>
          <a:solidFill>
            <a:srgbClr val="2E6B3E"/>
          </a:solidFill>
          <a:ln/>
        </p:spPr>
      </p:sp>
      <p:sp>
        <p:nvSpPr>
          <p:cNvPr id="26" name="Text 24"/>
          <p:cNvSpPr/>
          <p:nvPr/>
        </p:nvSpPr>
        <p:spPr>
          <a:xfrm>
            <a:off x="8339328" y="1865376"/>
            <a:ext cx="3282696" cy="310896"/>
          </a:xfrm>
          <a:prstGeom prst="rect">
            <a:avLst/>
          </a:prstGeom>
          <a:noFill/>
          <a:ln/>
        </p:spPr>
        <p:txBody>
          <a:bodyPr wrap="square" lIns="0" tIns="0" rIns="0" bIns="0" rtlCol="0" anchor="ctr"/>
          <a:lstStyle/>
          <a:p>
            <a:pPr indent="0" marL="0">
              <a:buNone/>
            </a:pPr>
            <a:r>
              <a:rPr lang="en-US" sz="1000" b="1" spc="180" kern="0" dirty="0">
                <a:solidFill>
                  <a:srgbClr val="2E6B3E"/>
                </a:solidFill>
                <a:latin typeface="Calibri" pitchFamily="34" charset="0"/>
                <a:ea typeface="Calibri" pitchFamily="34" charset="-122"/>
                <a:cs typeface="Calibri" pitchFamily="34" charset="-120"/>
              </a:rPr>
              <a:t>PARTNERS &amp; LOGISTICS</a:t>
            </a:r>
            <a:endParaRPr lang="en-US" sz="1000" dirty="0"/>
          </a:p>
        </p:txBody>
      </p:sp>
      <p:sp>
        <p:nvSpPr>
          <p:cNvPr id="27" name="Text 25"/>
          <p:cNvSpPr/>
          <p:nvPr/>
        </p:nvSpPr>
        <p:spPr>
          <a:xfrm>
            <a:off x="8119872" y="2304288"/>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Livespot360</a:t>
            </a:r>
            <a:endParaRPr lang="en-US" sz="1200" dirty="0"/>
          </a:p>
        </p:txBody>
      </p:sp>
      <p:sp>
        <p:nvSpPr>
          <p:cNvPr id="28" name="Text 26"/>
          <p:cNvSpPr/>
          <p:nvPr/>
        </p:nvSpPr>
        <p:spPr>
          <a:xfrm>
            <a:off x="8119872" y="2532888"/>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The dominant producer, government-endorsed, led by Deola Art Alade. Prior Cardi B booking.</a:t>
            </a:r>
            <a:endParaRPr lang="en-US" sz="950" dirty="0"/>
          </a:p>
        </p:txBody>
      </p:sp>
      <p:sp>
        <p:nvSpPr>
          <p:cNvPr id="29" name="Text 27"/>
          <p:cNvSpPr/>
          <p:nvPr/>
        </p:nvSpPr>
        <p:spPr>
          <a:xfrm>
            <a:off x="8119872" y="2962656"/>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ExecuJet Africa</a:t>
            </a:r>
            <a:endParaRPr lang="en-US" sz="1200" dirty="0"/>
          </a:p>
        </p:txBody>
      </p:sp>
      <p:sp>
        <p:nvSpPr>
          <p:cNvPr id="30" name="Text 28"/>
          <p:cNvSpPr/>
          <p:nvPr/>
        </p:nvSpPr>
        <p:spPr>
          <a:xfrm>
            <a:off x="8119872" y="3191256"/>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Major FBO at Murtala Muhammed; hangar rated to Boeing Business Jet size.</a:t>
            </a:r>
            <a:endParaRPr lang="en-US" sz="950" dirty="0"/>
          </a:p>
        </p:txBody>
      </p:sp>
      <p:sp>
        <p:nvSpPr>
          <p:cNvPr id="31" name="Text 29"/>
          <p:cNvSpPr/>
          <p:nvPr/>
        </p:nvSpPr>
        <p:spPr>
          <a:xfrm>
            <a:off x="8119872" y="3621024"/>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Zeniks · Abuja Car Rental Express</a:t>
            </a:r>
            <a:endParaRPr lang="en-US" sz="1200" dirty="0"/>
          </a:p>
        </p:txBody>
      </p:sp>
      <p:sp>
        <p:nvSpPr>
          <p:cNvPr id="32" name="Text 30"/>
          <p:cNvSpPr/>
          <p:nvPr/>
        </p:nvSpPr>
        <p:spPr>
          <a:xfrm>
            <a:off x="8119872" y="3849624"/>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Motorcade and escort options; armoured vehicles available in Abuja.</a:t>
            </a:r>
            <a:endParaRPr lang="en-US" sz="950" dirty="0"/>
          </a:p>
        </p:txBody>
      </p:sp>
      <p:sp>
        <p:nvSpPr>
          <p:cNvPr id="33" name="Text 31"/>
          <p:cNvSpPr/>
          <p:nvPr/>
        </p:nvSpPr>
        <p:spPr>
          <a:xfrm>
            <a:off x="8119872" y="4279392"/>
            <a:ext cx="3502152" cy="237744"/>
          </a:xfrm>
          <a:prstGeom prst="rect">
            <a:avLst/>
          </a:prstGeom>
          <a:noFill/>
          <a:ln/>
        </p:spPr>
        <p:txBody>
          <a:bodyPr wrap="square" lIns="0" tIns="0" rIns="0" bIns="0" rtlCol="0" anchor="ctr"/>
          <a:lstStyle/>
          <a:p>
            <a:pPr indent="0" marL="0">
              <a:buNone/>
            </a:pPr>
            <a:r>
              <a:rPr lang="en-US" sz="1200" b="1" dirty="0">
                <a:solidFill>
                  <a:srgbClr val="2E1428"/>
                </a:solidFill>
                <a:latin typeface="Cambria" pitchFamily="34" charset="0"/>
                <a:ea typeface="Cambria" pitchFamily="34" charset="-122"/>
                <a:cs typeface="Cambria" pitchFamily="34" charset="-120"/>
              </a:rPr>
              <a:t>Wellbeing Foundation Africa</a:t>
            </a:r>
            <a:endParaRPr lang="en-US" sz="1200" dirty="0"/>
          </a:p>
        </p:txBody>
      </p:sp>
      <p:sp>
        <p:nvSpPr>
          <p:cNvPr id="34" name="Text 32"/>
          <p:cNvSpPr/>
          <p:nvPr/>
        </p:nvSpPr>
        <p:spPr>
          <a:xfrm>
            <a:off x="8119872" y="4507992"/>
            <a:ext cx="3410712" cy="420624"/>
          </a:xfrm>
          <a:prstGeom prst="rect">
            <a:avLst/>
          </a:prstGeom>
          <a:noFill/>
          <a:ln/>
        </p:spPr>
        <p:txBody>
          <a:bodyPr wrap="square" lIns="0" tIns="0" rIns="0" bIns="0" rtlCol="0" anchor="t"/>
          <a:lstStyle/>
          <a:p>
            <a:pPr indent="0" marL="0">
              <a:lnSpc>
                <a:spcPts val="1150"/>
              </a:lnSpc>
              <a:buNone/>
            </a:pPr>
            <a:r>
              <a:rPr lang="en-US" sz="950" dirty="0">
                <a:solidFill>
                  <a:srgbClr val="7A6E76"/>
                </a:solidFill>
                <a:latin typeface="Calibri" pitchFamily="34" charset="0"/>
                <a:ea typeface="Calibri" pitchFamily="34" charset="-122"/>
                <a:cs typeface="Calibri" pitchFamily="34" charset="-120"/>
              </a:rPr>
              <a:t>Founded by Toyin Ojora Saraki. Maternal and child health — pairs well with the birthday.</a:t>
            </a:r>
            <a:endParaRPr lang="en-US" sz="950" dirty="0"/>
          </a:p>
        </p:txBody>
      </p:sp>
      <p:sp>
        <p:nvSpPr>
          <p:cNvPr id="35" name="Shape 33"/>
          <p:cNvSpPr/>
          <p:nvPr/>
        </p:nvSpPr>
        <p:spPr>
          <a:xfrm>
            <a:off x="566928" y="5541264"/>
            <a:ext cx="11055096" cy="713232"/>
          </a:xfrm>
          <a:prstGeom prst="roundRect">
            <a:avLst>
              <a:gd name="adj" fmla="val 7692"/>
            </a:avLst>
          </a:prstGeom>
          <a:solidFill>
            <a:srgbClr val="FBF1F1"/>
          </a:solidFill>
          <a:ln w="9525">
            <a:solidFill>
              <a:srgbClr val="E8CFCF"/>
            </a:solidFill>
            <a:prstDash val="solid"/>
          </a:ln>
        </p:spPr>
      </p:sp>
      <p:sp>
        <p:nvSpPr>
          <p:cNvPr id="36" name="Text 34"/>
          <p:cNvSpPr/>
          <p:nvPr/>
        </p:nvSpPr>
        <p:spPr>
          <a:xfrm>
            <a:off x="786384" y="5705856"/>
            <a:ext cx="731520" cy="237744"/>
          </a:xfrm>
          <a:prstGeom prst="rect">
            <a:avLst/>
          </a:prstGeom>
          <a:noFill/>
          <a:ln/>
        </p:spPr>
        <p:txBody>
          <a:bodyPr wrap="square" lIns="0" tIns="0" rIns="0" bIns="0" rtlCol="0" anchor="ctr"/>
          <a:lstStyle/>
          <a:p>
            <a:pPr indent="0" marL="0">
              <a:buNone/>
            </a:pPr>
            <a:r>
              <a:rPr lang="en-US" sz="900" b="1" spc="140" kern="0" dirty="0">
                <a:solidFill>
                  <a:srgbClr val="9C2C2C"/>
                </a:solidFill>
                <a:latin typeface="Calibri" pitchFamily="34" charset="0"/>
                <a:ea typeface="Calibri" pitchFamily="34" charset="-122"/>
                <a:cs typeface="Calibri" pitchFamily="34" charset="-120"/>
              </a:rPr>
              <a:t>WATCH</a:t>
            </a:r>
            <a:endParaRPr lang="en-US" sz="900" dirty="0"/>
          </a:p>
        </p:txBody>
      </p:sp>
      <p:sp>
        <p:nvSpPr>
          <p:cNvPr id="37" name="Text 35"/>
          <p:cNvSpPr/>
          <p:nvPr/>
        </p:nvSpPr>
        <p:spPr>
          <a:xfrm>
            <a:off x="1536192" y="5632704"/>
            <a:ext cx="9829800" cy="548640"/>
          </a:xfrm>
          <a:prstGeom prst="rect">
            <a:avLst/>
          </a:prstGeom>
          <a:noFill/>
          <a:ln/>
        </p:spPr>
        <p:txBody>
          <a:bodyPr wrap="square" lIns="0" tIns="0" rIns="0" bIns="0" rtlCol="0" anchor="ctr"/>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Lagos State's own free New Year's flagship was cancelled hours before kickoff on 31 December last year, with no reason given, after running annually since 2012. Do not anchor the NYE plan on it until 2026 status is confirmed.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THE DECISION THAT SIZES THE CREW</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What kind of content is this</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This changes crew, budget and timeline more than any other choice. It should be settled at concept stage, not once cameras are already on the ground.</a:t>
            </a:r>
            <a:endParaRPr lang="en-US" sz="1300" dirty="0"/>
          </a:p>
        </p:txBody>
      </p:sp>
      <p:sp>
        <p:nvSpPr>
          <p:cNvPr id="5" name="Shape 3"/>
          <p:cNvSpPr/>
          <p:nvPr/>
        </p:nvSpPr>
        <p:spPr>
          <a:xfrm>
            <a:off x="566928" y="2011680"/>
            <a:ext cx="3502152" cy="3493008"/>
          </a:xfrm>
          <a:prstGeom prst="roundRect">
            <a:avLst>
              <a:gd name="adj" fmla="val 1571"/>
            </a:avLst>
          </a:prstGeom>
          <a:solidFill>
            <a:srgbClr val="F6F2F5"/>
          </a:solidFill>
          <a:ln w="9525">
            <a:solidFill>
              <a:srgbClr val="E4DDE2"/>
            </a:solidFill>
            <a:prstDash val="solid"/>
          </a:ln>
        </p:spPr>
      </p:sp>
      <p:sp>
        <p:nvSpPr>
          <p:cNvPr id="6" name="Shape 4"/>
          <p:cNvSpPr/>
          <p:nvPr/>
        </p:nvSpPr>
        <p:spPr>
          <a:xfrm>
            <a:off x="804672" y="2249424"/>
            <a:ext cx="329184" cy="329184"/>
          </a:xfrm>
          <a:prstGeom prst="ellipse">
            <a:avLst/>
          </a:prstGeom>
          <a:solidFill>
            <a:srgbClr val="C9992B"/>
          </a:solidFill>
          <a:ln/>
        </p:spPr>
      </p:sp>
      <p:sp>
        <p:nvSpPr>
          <p:cNvPr id="7" name="Text 5"/>
          <p:cNvSpPr/>
          <p:nvPr/>
        </p:nvSpPr>
        <p:spPr>
          <a:xfrm>
            <a:off x="804672" y="2249424"/>
            <a:ext cx="329184" cy="329184"/>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A</a:t>
            </a:r>
            <a:endParaRPr lang="en-US" sz="1200" dirty="0"/>
          </a:p>
        </p:txBody>
      </p:sp>
      <p:sp>
        <p:nvSpPr>
          <p:cNvPr id="8" name="Text 6"/>
          <p:cNvSpPr/>
          <p:nvPr/>
        </p:nvSpPr>
        <p:spPr>
          <a:xfrm>
            <a:off x="1225296" y="2249424"/>
            <a:ext cx="2624328" cy="329184"/>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Highlight reel</a:t>
            </a:r>
            <a:endParaRPr lang="en-US" sz="1500" dirty="0"/>
          </a:p>
        </p:txBody>
      </p:sp>
      <p:sp>
        <p:nvSpPr>
          <p:cNvPr id="9" name="Text 7"/>
          <p:cNvSpPr/>
          <p:nvPr/>
        </p:nvSpPr>
        <p:spPr>
          <a:xfrm>
            <a:off x="804672" y="2724912"/>
            <a:ext cx="3026664" cy="859536"/>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One videographer shooting coverage and behind-the-scenes, cut into a 3–5 minute recap with social versions after the trip.</a:t>
            </a:r>
            <a:endParaRPr lang="en-US" sz="1050" dirty="0"/>
          </a:p>
        </p:txBody>
      </p:sp>
      <p:sp>
        <p:nvSpPr>
          <p:cNvPr id="10" name="Text 8"/>
          <p:cNvSpPr/>
          <p:nvPr/>
        </p:nvSpPr>
        <p:spPr>
          <a:xfrm>
            <a:off x="804672" y="3602736"/>
            <a:ext cx="3026664" cy="365760"/>
          </a:xfrm>
          <a:prstGeom prst="rect">
            <a:avLst/>
          </a:prstGeom>
          <a:noFill/>
          <a:ln/>
        </p:spPr>
        <p:txBody>
          <a:bodyPr wrap="square" lIns="0" tIns="0" rIns="0" bIns="0" rtlCol="0" anchor="ctr"/>
          <a:lstStyle/>
          <a:p>
            <a:pPr indent="0" marL="0">
              <a:lnSpc>
                <a:spcPts val="1150"/>
              </a:lnSpc>
              <a:buNone/>
            </a:pPr>
            <a:r>
              <a:rPr lang="en-US" sz="950" b="1" dirty="0">
                <a:solidFill>
                  <a:srgbClr val="7A6E76"/>
                </a:solidFill>
                <a:latin typeface="Calibri" pitchFamily="34" charset="0"/>
                <a:ea typeface="Calibri" pitchFamily="34" charset="-122"/>
                <a:cs typeface="Calibri" pitchFamily="34" charset="-120"/>
              </a:rPr>
              <a:t>Crew: 1–2 — matches the current sheet</a:t>
            </a:r>
            <a:endParaRPr lang="en-US" sz="950" dirty="0"/>
          </a:p>
        </p:txBody>
      </p:sp>
      <p:sp>
        <p:nvSpPr>
          <p:cNvPr id="11" name="Text 9"/>
          <p:cNvSpPr/>
          <p:nvPr/>
        </p:nvSpPr>
        <p:spPr>
          <a:xfrm>
            <a:off x="804672" y="4023360"/>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3A3038"/>
                </a:solidFill>
                <a:latin typeface="Calibri" pitchFamily="34" charset="0"/>
                <a:ea typeface="Calibri" pitchFamily="34" charset="-122"/>
                <a:cs typeface="Calibri" pitchFamily="34" charset="-120"/>
              </a:rPr>
              <a:t>+   Cheap, fast, low risk.</a:t>
            </a:r>
            <a:endParaRPr lang="en-US" sz="1000" dirty="0"/>
          </a:p>
        </p:txBody>
      </p:sp>
      <p:sp>
        <p:nvSpPr>
          <p:cNvPr id="12" name="Text 10"/>
          <p:cNvSpPr/>
          <p:nvPr/>
        </p:nvSpPr>
        <p:spPr>
          <a:xfrm>
            <a:off x="804672" y="4626864"/>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7A6E76"/>
                </a:solidFill>
                <a:latin typeface="Calibri" pitchFamily="34" charset="0"/>
                <a:ea typeface="Calibri" pitchFamily="34" charset="-122"/>
                <a:cs typeface="Calibri" pitchFamily="34" charset="-120"/>
              </a:rPr>
              <a:t>−   Gives sponsors nothing sustained, and badly undersells the story.</a:t>
            </a:r>
            <a:endParaRPr lang="en-US" sz="1000" dirty="0"/>
          </a:p>
        </p:txBody>
      </p:sp>
      <p:sp>
        <p:nvSpPr>
          <p:cNvPr id="13" name="Shape 11"/>
          <p:cNvSpPr/>
          <p:nvPr/>
        </p:nvSpPr>
        <p:spPr>
          <a:xfrm>
            <a:off x="4343400" y="2011680"/>
            <a:ext cx="3502152" cy="3493008"/>
          </a:xfrm>
          <a:prstGeom prst="roundRect">
            <a:avLst>
              <a:gd name="adj" fmla="val 1571"/>
            </a:avLst>
          </a:prstGeom>
          <a:solidFill>
            <a:srgbClr val="F1F6F2"/>
          </a:solidFill>
          <a:ln w="15875">
            <a:solidFill>
              <a:srgbClr val="BFD8C4"/>
            </a:solidFill>
            <a:prstDash val="solid"/>
          </a:ln>
        </p:spPr>
      </p:sp>
      <p:sp>
        <p:nvSpPr>
          <p:cNvPr id="14" name="Shape 12"/>
          <p:cNvSpPr/>
          <p:nvPr/>
        </p:nvSpPr>
        <p:spPr>
          <a:xfrm>
            <a:off x="4581144" y="2249424"/>
            <a:ext cx="329184" cy="329184"/>
          </a:xfrm>
          <a:prstGeom prst="ellipse">
            <a:avLst/>
          </a:prstGeom>
          <a:solidFill>
            <a:srgbClr val="C9992B"/>
          </a:solidFill>
          <a:ln/>
        </p:spPr>
      </p:sp>
      <p:sp>
        <p:nvSpPr>
          <p:cNvPr id="15" name="Text 13"/>
          <p:cNvSpPr/>
          <p:nvPr/>
        </p:nvSpPr>
        <p:spPr>
          <a:xfrm>
            <a:off x="4581144" y="2249424"/>
            <a:ext cx="329184" cy="329184"/>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B</a:t>
            </a:r>
            <a:endParaRPr lang="en-US" sz="1200" dirty="0"/>
          </a:p>
        </p:txBody>
      </p:sp>
      <p:sp>
        <p:nvSpPr>
          <p:cNvPr id="16" name="Text 14"/>
          <p:cNvSpPr/>
          <p:nvPr/>
        </p:nvSpPr>
        <p:spPr>
          <a:xfrm>
            <a:off x="5001768" y="2249424"/>
            <a:ext cx="2624328" cy="329184"/>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Social-first + episodic</a:t>
            </a:r>
            <a:endParaRPr lang="en-US" sz="1500" dirty="0"/>
          </a:p>
        </p:txBody>
      </p:sp>
      <p:sp>
        <p:nvSpPr>
          <p:cNvPr id="17" name="Text 15"/>
          <p:cNvSpPr/>
          <p:nvPr/>
        </p:nvSpPr>
        <p:spPr>
          <a:xfrm>
            <a:off x="4581144" y="2724912"/>
            <a:ext cx="3026664" cy="859536"/>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Daily short-form posted live for reach, same footage banked and cut into three long-form episodes — one per country — after the trip.</a:t>
            </a:r>
            <a:endParaRPr lang="en-US" sz="1050" dirty="0"/>
          </a:p>
        </p:txBody>
      </p:sp>
      <p:sp>
        <p:nvSpPr>
          <p:cNvPr id="18" name="Text 16"/>
          <p:cNvSpPr/>
          <p:nvPr/>
        </p:nvSpPr>
        <p:spPr>
          <a:xfrm>
            <a:off x="4581144" y="3602736"/>
            <a:ext cx="3026664" cy="365760"/>
          </a:xfrm>
          <a:prstGeom prst="rect">
            <a:avLst/>
          </a:prstGeom>
          <a:noFill/>
          <a:ln/>
        </p:spPr>
        <p:txBody>
          <a:bodyPr wrap="square" lIns="0" tIns="0" rIns="0" bIns="0" rtlCol="0" anchor="ctr"/>
          <a:lstStyle/>
          <a:p>
            <a:pPr indent="0" marL="0">
              <a:lnSpc>
                <a:spcPts val="1150"/>
              </a:lnSpc>
              <a:buNone/>
            </a:pPr>
            <a:r>
              <a:rPr lang="en-US" sz="950" b="1" dirty="0">
                <a:solidFill>
                  <a:srgbClr val="2E6B3E"/>
                </a:solidFill>
                <a:latin typeface="Calibri" pitchFamily="34" charset="0"/>
                <a:ea typeface="Calibri" pitchFamily="34" charset="-122"/>
                <a:cs typeface="Calibri" pitchFamily="34" charset="-120"/>
              </a:rPr>
              <a:t>Crew: 1–2 videographers, photographer, on-trip editor, post editor</a:t>
            </a:r>
            <a:endParaRPr lang="en-US" sz="950" dirty="0"/>
          </a:p>
        </p:txBody>
      </p:sp>
      <p:sp>
        <p:nvSpPr>
          <p:cNvPr id="19" name="Text 17"/>
          <p:cNvSpPr/>
          <p:nvPr/>
        </p:nvSpPr>
        <p:spPr>
          <a:xfrm>
            <a:off x="4581144" y="4023360"/>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3A3038"/>
                </a:solidFill>
                <a:latin typeface="Calibri" pitchFamily="34" charset="0"/>
                <a:ea typeface="Calibri" pitchFamily="34" charset="-122"/>
                <a:cs typeface="Calibri" pitchFamily="34" charset="-120"/>
              </a:rPr>
              <a:t>+   Content flows during the tour when sponsors need visibility, and still yields a polished asset.</a:t>
            </a:r>
            <a:endParaRPr lang="en-US" sz="1000" dirty="0"/>
          </a:p>
        </p:txBody>
      </p:sp>
      <p:sp>
        <p:nvSpPr>
          <p:cNvPr id="20" name="Text 18"/>
          <p:cNvSpPr/>
          <p:nvPr/>
        </p:nvSpPr>
        <p:spPr>
          <a:xfrm>
            <a:off x="4581144" y="4626864"/>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7A6E76"/>
                </a:solidFill>
                <a:latin typeface="Calibri" pitchFamily="34" charset="0"/>
                <a:ea typeface="Calibri" pitchFamily="34" charset="-122"/>
                <a:cs typeface="Calibri" pitchFamily="34" charset="-120"/>
              </a:rPr>
              <a:t>−   Needs a slightly bigger crew than currently budgeted.</a:t>
            </a:r>
            <a:endParaRPr lang="en-US" sz="1000" dirty="0"/>
          </a:p>
        </p:txBody>
      </p:sp>
      <p:sp>
        <p:nvSpPr>
          <p:cNvPr id="21" name="Shape 19"/>
          <p:cNvSpPr/>
          <p:nvPr/>
        </p:nvSpPr>
        <p:spPr>
          <a:xfrm>
            <a:off x="4581144" y="5157216"/>
            <a:ext cx="870509" cy="219456"/>
          </a:xfrm>
          <a:prstGeom prst="roundRect">
            <a:avLst>
              <a:gd name="adj" fmla="val 50000"/>
            </a:avLst>
          </a:prstGeom>
          <a:solidFill>
            <a:srgbClr val="2E6B3E">
              <a:alpha val="12000"/>
            </a:srgbClr>
          </a:solidFill>
          <a:ln w="9525">
            <a:solidFill>
              <a:srgbClr val="2E6B3E"/>
            </a:solidFill>
            <a:prstDash val="solid"/>
          </a:ln>
        </p:spPr>
      </p:sp>
      <p:sp>
        <p:nvSpPr>
          <p:cNvPr id="22" name="Text 20"/>
          <p:cNvSpPr/>
          <p:nvPr/>
        </p:nvSpPr>
        <p:spPr>
          <a:xfrm>
            <a:off x="4581144" y="5157216"/>
            <a:ext cx="870509" cy="219456"/>
          </a:xfrm>
          <a:prstGeom prst="rect">
            <a:avLst/>
          </a:prstGeom>
          <a:noFill/>
          <a:ln/>
        </p:spPr>
        <p:txBody>
          <a:bodyPr wrap="square" lIns="0" tIns="0" rIns="0" bIns="0" rtlCol="0" anchor="ctr"/>
          <a:lstStyle/>
          <a:p>
            <a:pPr algn="ctr" indent="0" marL="0">
              <a:buNone/>
            </a:pPr>
            <a:r>
              <a:rPr lang="en-US" sz="800" b="1" spc="60" kern="0" dirty="0">
                <a:solidFill>
                  <a:srgbClr val="2E6B3E"/>
                </a:solidFill>
                <a:latin typeface="Calibri" pitchFamily="34" charset="0"/>
                <a:ea typeface="Calibri" pitchFamily="34" charset="-122"/>
                <a:cs typeface="Calibri" pitchFamily="34" charset="-120"/>
              </a:rPr>
              <a:t>RECOMMENDED</a:t>
            </a:r>
            <a:endParaRPr lang="en-US" sz="800" dirty="0"/>
          </a:p>
        </p:txBody>
      </p:sp>
      <p:sp>
        <p:nvSpPr>
          <p:cNvPr id="23" name="Shape 21"/>
          <p:cNvSpPr/>
          <p:nvPr/>
        </p:nvSpPr>
        <p:spPr>
          <a:xfrm>
            <a:off x="8119872" y="2011680"/>
            <a:ext cx="3502152" cy="3493008"/>
          </a:xfrm>
          <a:prstGeom prst="roundRect">
            <a:avLst>
              <a:gd name="adj" fmla="val 1571"/>
            </a:avLst>
          </a:prstGeom>
          <a:solidFill>
            <a:srgbClr val="F6F2F5"/>
          </a:solidFill>
          <a:ln w="9525">
            <a:solidFill>
              <a:srgbClr val="E4DDE2"/>
            </a:solidFill>
            <a:prstDash val="solid"/>
          </a:ln>
        </p:spPr>
      </p:sp>
      <p:sp>
        <p:nvSpPr>
          <p:cNvPr id="24" name="Shape 22"/>
          <p:cNvSpPr/>
          <p:nvPr/>
        </p:nvSpPr>
        <p:spPr>
          <a:xfrm>
            <a:off x="8357616" y="2249424"/>
            <a:ext cx="329184" cy="329184"/>
          </a:xfrm>
          <a:prstGeom prst="ellipse">
            <a:avLst/>
          </a:prstGeom>
          <a:solidFill>
            <a:srgbClr val="C9992B"/>
          </a:solidFill>
          <a:ln/>
        </p:spPr>
      </p:sp>
      <p:sp>
        <p:nvSpPr>
          <p:cNvPr id="25" name="Text 23"/>
          <p:cNvSpPr/>
          <p:nvPr/>
        </p:nvSpPr>
        <p:spPr>
          <a:xfrm>
            <a:off x="8357616" y="2249424"/>
            <a:ext cx="329184" cy="329184"/>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C</a:t>
            </a:r>
            <a:endParaRPr lang="en-US" sz="1200" dirty="0"/>
          </a:p>
        </p:txBody>
      </p:sp>
      <p:sp>
        <p:nvSpPr>
          <p:cNvPr id="26" name="Text 24"/>
          <p:cNvSpPr/>
          <p:nvPr/>
        </p:nvSpPr>
        <p:spPr>
          <a:xfrm>
            <a:off x="8778240" y="2249424"/>
            <a:ext cx="2624328" cy="329184"/>
          </a:xfrm>
          <a:prstGeom prst="rect">
            <a:avLst/>
          </a:prstGeom>
          <a:noFill/>
          <a:ln/>
        </p:spPr>
        <p:txBody>
          <a:bodyPr wrap="square" lIns="0" tIns="0" rIns="0" bIns="0" rtlCol="0" anchor="ctr"/>
          <a:lstStyle/>
          <a:p>
            <a:pPr indent="0" marL="0">
              <a:buNone/>
            </a:pPr>
            <a:r>
              <a:rPr lang="en-US" sz="1500" b="1" dirty="0">
                <a:solidFill>
                  <a:srgbClr val="2E1428"/>
                </a:solidFill>
                <a:latin typeface="Cambria" pitchFamily="34" charset="0"/>
                <a:ea typeface="Cambria" pitchFamily="34" charset="-122"/>
                <a:cs typeface="Cambria" pitchFamily="34" charset="-120"/>
              </a:rPr>
              <a:t>Full documentary series</a:t>
            </a:r>
            <a:endParaRPr lang="en-US" sz="1500" dirty="0"/>
          </a:p>
        </p:txBody>
      </p:sp>
      <p:sp>
        <p:nvSpPr>
          <p:cNvPr id="27" name="Text 25"/>
          <p:cNvSpPr/>
          <p:nvPr/>
        </p:nvSpPr>
        <p:spPr>
          <a:xfrm>
            <a:off x="8357616" y="2724912"/>
            <a:ext cx="3026664" cy="859536"/>
          </a:xfrm>
          <a:prstGeom prst="rect">
            <a:avLst/>
          </a:prstGeom>
          <a:noFill/>
          <a:ln/>
        </p:spPr>
        <p:txBody>
          <a:bodyPr wrap="square" lIns="0" tIns="0" rIns="0" bIns="0" rtlCol="0" anchor="t"/>
          <a:lstStyle/>
          <a:p>
            <a:pPr indent="0" marL="0">
              <a:lnSpc>
                <a:spcPts val="1300"/>
              </a:lnSpc>
              <a:buNone/>
            </a:pPr>
            <a:r>
              <a:rPr lang="en-US" sz="1050" dirty="0">
                <a:solidFill>
                  <a:srgbClr val="3A3038"/>
                </a:solidFill>
                <a:latin typeface="Calibri" pitchFamily="34" charset="0"/>
                <a:ea typeface="Calibri" pitchFamily="34" charset="-122"/>
                <a:cs typeface="Calibri" pitchFamily="34" charset="-120"/>
              </a:rPr>
              <a:t>Two episodes per country. A director, DP, sound, second camera, drone, colourist and story editor, with a narrative arc built in advance.</a:t>
            </a:r>
            <a:endParaRPr lang="en-US" sz="1050" dirty="0"/>
          </a:p>
        </p:txBody>
      </p:sp>
      <p:sp>
        <p:nvSpPr>
          <p:cNvPr id="28" name="Text 26"/>
          <p:cNvSpPr/>
          <p:nvPr/>
        </p:nvSpPr>
        <p:spPr>
          <a:xfrm>
            <a:off x="8357616" y="3602736"/>
            <a:ext cx="3026664" cy="365760"/>
          </a:xfrm>
          <a:prstGeom prst="rect">
            <a:avLst/>
          </a:prstGeom>
          <a:noFill/>
          <a:ln/>
        </p:spPr>
        <p:txBody>
          <a:bodyPr wrap="square" lIns="0" tIns="0" rIns="0" bIns="0" rtlCol="0" anchor="ctr"/>
          <a:lstStyle/>
          <a:p>
            <a:pPr indent="0" marL="0">
              <a:lnSpc>
                <a:spcPts val="1150"/>
              </a:lnSpc>
              <a:buNone/>
            </a:pPr>
            <a:r>
              <a:rPr lang="en-US" sz="950" b="1" dirty="0">
                <a:solidFill>
                  <a:srgbClr val="9C2C2C"/>
                </a:solidFill>
                <a:latin typeface="Calibri" pitchFamily="34" charset="0"/>
                <a:ea typeface="Calibri" pitchFamily="34" charset="-122"/>
                <a:cs typeface="Calibri" pitchFamily="34" charset="-120"/>
              </a:rPr>
              <a:t>Crew: full production team + months of post</a:t>
            </a:r>
            <a:endParaRPr lang="en-US" sz="950" dirty="0"/>
          </a:p>
        </p:txBody>
      </p:sp>
      <p:sp>
        <p:nvSpPr>
          <p:cNvPr id="29" name="Text 27"/>
          <p:cNvSpPr/>
          <p:nvPr/>
        </p:nvSpPr>
        <p:spPr>
          <a:xfrm>
            <a:off x="8357616" y="4023360"/>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3A3038"/>
                </a:solidFill>
                <a:latin typeface="Calibri" pitchFamily="34" charset="0"/>
                <a:ea typeface="Calibri" pitchFamily="34" charset="-122"/>
                <a:cs typeface="Calibri" pitchFamily="34" charset="-120"/>
              </a:rPr>
              <a:t>+   The most valuable long-term asset, and a genuinely strong story.</a:t>
            </a:r>
            <a:endParaRPr lang="en-US" sz="1000" dirty="0"/>
          </a:p>
        </p:txBody>
      </p:sp>
      <p:sp>
        <p:nvSpPr>
          <p:cNvPr id="30" name="Text 28"/>
          <p:cNvSpPr/>
          <p:nvPr/>
        </p:nvSpPr>
        <p:spPr>
          <a:xfrm>
            <a:off x="8357616" y="4626864"/>
            <a:ext cx="3026664" cy="566928"/>
          </a:xfrm>
          <a:prstGeom prst="rect">
            <a:avLst/>
          </a:prstGeom>
          <a:noFill/>
          <a:ln/>
        </p:spPr>
        <p:txBody>
          <a:bodyPr wrap="square" lIns="0" tIns="0" rIns="0" bIns="0" rtlCol="0" anchor="t"/>
          <a:lstStyle/>
          <a:p>
            <a:pPr indent="0" marL="0">
              <a:lnSpc>
                <a:spcPts val="1250"/>
              </a:lnSpc>
              <a:buNone/>
            </a:pPr>
            <a:r>
              <a:rPr lang="en-US" sz="1000" dirty="0">
                <a:solidFill>
                  <a:srgbClr val="7A6E76"/>
                </a:solidFill>
                <a:latin typeface="Calibri" pitchFamily="34" charset="0"/>
                <a:ea typeface="Calibri" pitchFamily="34" charset="-122"/>
                <a:cs typeface="Calibri" pitchFamily="34" charset="-120"/>
              </a:rPr>
              <a:t>−   A separate project with its own producer, budget and distribution plan. Not an add-on.</a:t>
            </a:r>
            <a:endParaRPr lang="en-US" sz="1000" dirty="0"/>
          </a:p>
        </p:txBody>
      </p:sp>
      <p:sp>
        <p:nvSpPr>
          <p:cNvPr id="31" name="Text 29"/>
          <p:cNvSpPr/>
          <p:nvPr/>
        </p:nvSpPr>
        <p:spPr>
          <a:xfrm>
            <a:off x="566928" y="5687568"/>
            <a:ext cx="10780776" cy="457200"/>
          </a:xfrm>
          <a:prstGeom prst="rect">
            <a:avLst/>
          </a:prstGeom>
          <a:noFill/>
          <a:ln/>
        </p:spPr>
        <p:txBody>
          <a:bodyPr wrap="square" lIns="0" tIns="0" rIns="0" bIns="0" rtlCol="0" anchor="ctr"/>
          <a:lstStyle/>
          <a:p>
            <a:pPr indent="0" marL="0">
              <a:lnSpc>
                <a:spcPts val="1400"/>
              </a:lnSpc>
              <a:buNone/>
            </a:pPr>
            <a:r>
              <a:rPr lang="en-US" sz="1150" i="1" dirty="0">
                <a:solidFill>
                  <a:srgbClr val="3A3038"/>
                </a:solidFill>
                <a:latin typeface="Calibri" pitchFamily="34" charset="0"/>
                <a:ea typeface="Calibri" pitchFamily="34" charset="-122"/>
                <a:cs typeface="Calibri" pitchFamily="34" charset="-120"/>
              </a:rPr>
              <a:t>Recommendation: shoot at documentary quality — multi-camera on the big moments — but only commit to three episodes now. That keeps option C open later without having under-shot the first time.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WHAT THE ROLE ACTUALLY COVERS</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Scope of work</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The brief named logistics, sponsorship, itinerary, negotiation and oversight. At this scale the role is closer to executive producer — here is the rest of it.</a:t>
            </a:r>
            <a:endParaRPr lang="en-US" sz="1300" dirty="0"/>
          </a:p>
        </p:txBody>
      </p:sp>
      <p:sp>
        <p:nvSpPr>
          <p:cNvPr id="5" name="Shape 3"/>
          <p:cNvSpPr/>
          <p:nvPr/>
        </p:nvSpPr>
        <p:spPr>
          <a:xfrm>
            <a:off x="566928" y="1938528"/>
            <a:ext cx="118872" cy="118872"/>
          </a:xfrm>
          <a:prstGeom prst="ellipse">
            <a:avLst/>
          </a:prstGeom>
          <a:solidFill>
            <a:srgbClr val="2E1428"/>
          </a:solidFill>
          <a:ln/>
        </p:spPr>
      </p:sp>
      <p:sp>
        <p:nvSpPr>
          <p:cNvPr id="6" name="Text 4"/>
          <p:cNvSpPr/>
          <p:nvPr/>
        </p:nvSpPr>
        <p:spPr>
          <a:xfrm>
            <a:off x="768096" y="1883664"/>
            <a:ext cx="3300984" cy="237744"/>
          </a:xfrm>
          <a:prstGeom prst="rect">
            <a:avLst/>
          </a:prstGeom>
          <a:noFill/>
          <a:ln/>
        </p:spPr>
        <p:txBody>
          <a:bodyPr wrap="square" lIns="0" tIns="0" rIns="0" bIns="0" rtlCol="0" anchor="ctr"/>
          <a:lstStyle/>
          <a:p>
            <a:pPr indent="0" marL="0">
              <a:buNone/>
            </a:pPr>
            <a:r>
              <a:rPr lang="en-US" sz="950" b="1" spc="150" kern="0" dirty="0">
                <a:solidFill>
                  <a:srgbClr val="2E1428"/>
                </a:solidFill>
                <a:latin typeface="Calibri" pitchFamily="34" charset="0"/>
                <a:ea typeface="Calibri" pitchFamily="34" charset="-122"/>
                <a:cs typeface="Calibri" pitchFamily="34" charset="-120"/>
              </a:rPr>
              <a:t>NAMED IN THE BRIEF</a:t>
            </a:r>
            <a:endParaRPr lang="en-US" sz="950" dirty="0"/>
          </a:p>
        </p:txBody>
      </p:sp>
      <p:sp>
        <p:nvSpPr>
          <p:cNvPr id="7" name="Text 5"/>
          <p:cNvSpPr/>
          <p:nvPr/>
        </p:nvSpPr>
        <p:spPr>
          <a:xfrm>
            <a:off x="768096" y="2176272"/>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Tour logistics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Sponsorship &amp; partnership deals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Itinerary management</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Negotiations with all parties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General tour oversight</a:t>
            </a:r>
            <a:endParaRPr lang="en-US" sz="1000" dirty="0"/>
          </a:p>
        </p:txBody>
      </p:sp>
      <p:sp>
        <p:nvSpPr>
          <p:cNvPr id="8" name="Shape 6"/>
          <p:cNvSpPr/>
          <p:nvPr/>
        </p:nvSpPr>
        <p:spPr>
          <a:xfrm>
            <a:off x="4343400" y="1938528"/>
            <a:ext cx="118872" cy="118872"/>
          </a:xfrm>
          <a:prstGeom prst="ellipse">
            <a:avLst/>
          </a:prstGeom>
          <a:solidFill>
            <a:srgbClr val="C25E2A"/>
          </a:solidFill>
          <a:ln/>
        </p:spPr>
      </p:sp>
      <p:sp>
        <p:nvSpPr>
          <p:cNvPr id="9" name="Text 7"/>
          <p:cNvSpPr/>
          <p:nvPr/>
        </p:nvSpPr>
        <p:spPr>
          <a:xfrm>
            <a:off x="4544568" y="1883664"/>
            <a:ext cx="3300984" cy="237744"/>
          </a:xfrm>
          <a:prstGeom prst="rect">
            <a:avLst/>
          </a:prstGeom>
          <a:noFill/>
          <a:ln/>
        </p:spPr>
        <p:txBody>
          <a:bodyPr wrap="square" lIns="0" tIns="0" rIns="0" bIns="0" rtlCol="0" anchor="ctr"/>
          <a:lstStyle/>
          <a:p>
            <a:pPr indent="0" marL="0">
              <a:buNone/>
            </a:pPr>
            <a:r>
              <a:rPr lang="en-US" sz="950" b="1" spc="150" kern="0" dirty="0">
                <a:solidFill>
                  <a:srgbClr val="C25E2A"/>
                </a:solidFill>
                <a:latin typeface="Calibri" pitchFamily="34" charset="0"/>
                <a:ea typeface="Calibri" pitchFamily="34" charset="-122"/>
                <a:cs typeface="Calibri" pitchFamily="34" charset="-120"/>
              </a:rPr>
              <a:t>TALENT &amp; DUTY OF CARE</a:t>
            </a:r>
            <a:endParaRPr lang="en-US" sz="950" dirty="0"/>
          </a:p>
        </p:txBody>
      </p:sp>
      <p:sp>
        <p:nvSpPr>
          <p:cNvPr id="10" name="Text 8"/>
          <p:cNvSpPr/>
          <p:nvPr/>
        </p:nvSpPr>
        <p:spPr>
          <a:xfrm>
            <a:off x="4544568" y="2176272"/>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Talent contracts &amp; appearance terms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Rider management across 14 women</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Conflict resolution on the ground</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Media kit collection &amp; distribution</a:t>
            </a:r>
            <a:endParaRPr lang="en-US" sz="1000" dirty="0"/>
          </a:p>
        </p:txBody>
      </p:sp>
      <p:sp>
        <p:nvSpPr>
          <p:cNvPr id="11" name="Shape 9"/>
          <p:cNvSpPr/>
          <p:nvPr/>
        </p:nvSpPr>
        <p:spPr>
          <a:xfrm>
            <a:off x="8119872" y="1938528"/>
            <a:ext cx="118872" cy="118872"/>
          </a:xfrm>
          <a:prstGeom prst="ellipse">
            <a:avLst/>
          </a:prstGeom>
          <a:solidFill>
            <a:srgbClr val="A32C2C"/>
          </a:solidFill>
          <a:ln/>
        </p:spPr>
      </p:sp>
      <p:sp>
        <p:nvSpPr>
          <p:cNvPr id="12" name="Text 10"/>
          <p:cNvSpPr/>
          <p:nvPr/>
        </p:nvSpPr>
        <p:spPr>
          <a:xfrm>
            <a:off x="8321040" y="1883664"/>
            <a:ext cx="3300984" cy="237744"/>
          </a:xfrm>
          <a:prstGeom prst="rect">
            <a:avLst/>
          </a:prstGeom>
          <a:noFill/>
          <a:ln/>
        </p:spPr>
        <p:txBody>
          <a:bodyPr wrap="square" lIns="0" tIns="0" rIns="0" bIns="0" rtlCol="0" anchor="ctr"/>
          <a:lstStyle/>
          <a:p>
            <a:pPr indent="0" marL="0">
              <a:buNone/>
            </a:pPr>
            <a:r>
              <a:rPr lang="en-US" sz="950" b="1" spc="150" kern="0" dirty="0">
                <a:solidFill>
                  <a:srgbClr val="A32C2C"/>
                </a:solidFill>
                <a:latin typeface="Calibri" pitchFamily="34" charset="0"/>
                <a:ea typeface="Calibri" pitchFamily="34" charset="-122"/>
                <a:cs typeface="Calibri" pitchFamily="34" charset="-120"/>
              </a:rPr>
              <a:t>LEGAL &amp; RISK</a:t>
            </a:r>
            <a:endParaRPr lang="en-US" sz="950" dirty="0"/>
          </a:p>
        </p:txBody>
      </p:sp>
      <p:sp>
        <p:nvSpPr>
          <p:cNvPr id="13" name="Text 11"/>
          <p:cNvSpPr/>
          <p:nvPr/>
        </p:nvSpPr>
        <p:spPr>
          <a:xfrm>
            <a:off x="8321040" y="2176272"/>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Waivers, insurance, medical cover</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Filming &amp; work permits per country</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NDAs for sponsors and partners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Force majeure &amp; cancellation terms</a:t>
            </a:r>
            <a:endParaRPr lang="en-US" sz="1000" dirty="0"/>
          </a:p>
        </p:txBody>
      </p:sp>
      <p:sp>
        <p:nvSpPr>
          <p:cNvPr id="14" name="Shape 12"/>
          <p:cNvSpPr/>
          <p:nvPr/>
        </p:nvSpPr>
        <p:spPr>
          <a:xfrm>
            <a:off x="566928" y="3419856"/>
            <a:ext cx="118872" cy="118872"/>
          </a:xfrm>
          <a:prstGeom prst="ellipse">
            <a:avLst/>
          </a:prstGeom>
          <a:solidFill>
            <a:srgbClr val="2E6B3E"/>
          </a:solidFill>
          <a:ln/>
        </p:spPr>
      </p:sp>
      <p:sp>
        <p:nvSpPr>
          <p:cNvPr id="15" name="Text 13"/>
          <p:cNvSpPr/>
          <p:nvPr/>
        </p:nvSpPr>
        <p:spPr>
          <a:xfrm>
            <a:off x="768096" y="3364992"/>
            <a:ext cx="3300984" cy="237744"/>
          </a:xfrm>
          <a:prstGeom prst="rect">
            <a:avLst/>
          </a:prstGeom>
          <a:noFill/>
          <a:ln/>
        </p:spPr>
        <p:txBody>
          <a:bodyPr wrap="square" lIns="0" tIns="0" rIns="0" bIns="0" rtlCol="0" anchor="ctr"/>
          <a:lstStyle/>
          <a:p>
            <a:pPr indent="0" marL="0">
              <a:buNone/>
            </a:pPr>
            <a:r>
              <a:rPr lang="en-US" sz="950" b="1" spc="150" kern="0" dirty="0">
                <a:solidFill>
                  <a:srgbClr val="2E6B3E"/>
                </a:solidFill>
                <a:latin typeface="Calibri" pitchFamily="34" charset="0"/>
                <a:ea typeface="Calibri" pitchFamily="34" charset="-122"/>
                <a:cs typeface="Calibri" pitchFamily="34" charset="-120"/>
              </a:rPr>
              <a:t>IMMIGRATION</a:t>
            </a:r>
            <a:endParaRPr lang="en-US" sz="950" dirty="0"/>
          </a:p>
        </p:txBody>
      </p:sp>
      <p:sp>
        <p:nvSpPr>
          <p:cNvPr id="16" name="Text 14"/>
          <p:cNvSpPr/>
          <p:nvPr/>
        </p:nvSpPr>
        <p:spPr>
          <a:xfrm>
            <a:off x="768096" y="3657600"/>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Visa coordination, three countries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Passport collection &amp; tracking</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Documentation for private jet legs</a:t>
            </a:r>
            <a:endParaRPr lang="en-US" sz="1000" dirty="0"/>
          </a:p>
        </p:txBody>
      </p:sp>
      <p:sp>
        <p:nvSpPr>
          <p:cNvPr id="17" name="Shape 15"/>
          <p:cNvSpPr/>
          <p:nvPr/>
        </p:nvSpPr>
        <p:spPr>
          <a:xfrm>
            <a:off x="4343400" y="3419856"/>
            <a:ext cx="118872" cy="118872"/>
          </a:xfrm>
          <a:prstGeom prst="ellipse">
            <a:avLst/>
          </a:prstGeom>
          <a:solidFill>
            <a:srgbClr val="C25E2A"/>
          </a:solidFill>
          <a:ln/>
        </p:spPr>
      </p:sp>
      <p:sp>
        <p:nvSpPr>
          <p:cNvPr id="18" name="Text 16"/>
          <p:cNvSpPr/>
          <p:nvPr/>
        </p:nvSpPr>
        <p:spPr>
          <a:xfrm>
            <a:off x="4544568" y="3364992"/>
            <a:ext cx="3300984" cy="237744"/>
          </a:xfrm>
          <a:prstGeom prst="rect">
            <a:avLst/>
          </a:prstGeom>
          <a:noFill/>
          <a:ln/>
        </p:spPr>
        <p:txBody>
          <a:bodyPr wrap="square" lIns="0" tIns="0" rIns="0" bIns="0" rtlCol="0" anchor="ctr"/>
          <a:lstStyle/>
          <a:p>
            <a:pPr indent="0" marL="0">
              <a:buNone/>
            </a:pPr>
            <a:r>
              <a:rPr lang="en-US" sz="950" b="1" spc="150" kern="0" dirty="0">
                <a:solidFill>
                  <a:srgbClr val="C25E2A"/>
                </a:solidFill>
                <a:latin typeface="Calibri" pitchFamily="34" charset="0"/>
                <a:ea typeface="Calibri" pitchFamily="34" charset="-122"/>
                <a:cs typeface="Calibri" pitchFamily="34" charset="-120"/>
              </a:rPr>
              <a:t>SECURITY</a:t>
            </a:r>
            <a:endParaRPr lang="en-US" sz="950" dirty="0"/>
          </a:p>
        </p:txBody>
      </p:sp>
      <p:sp>
        <p:nvSpPr>
          <p:cNvPr id="19" name="Text 17"/>
          <p:cNvSpPr/>
          <p:nvPr/>
        </p:nvSpPr>
        <p:spPr>
          <a:xfrm>
            <a:off x="4544568" y="3657600"/>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Advance planning &amp; route recon</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Crisis communication protocol</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Local law enforcement liaison</a:t>
            </a:r>
            <a:endParaRPr lang="en-US" sz="1000" dirty="0"/>
          </a:p>
        </p:txBody>
      </p:sp>
      <p:sp>
        <p:nvSpPr>
          <p:cNvPr id="20" name="Shape 18"/>
          <p:cNvSpPr/>
          <p:nvPr/>
        </p:nvSpPr>
        <p:spPr>
          <a:xfrm>
            <a:off x="8119872" y="3419856"/>
            <a:ext cx="118872" cy="118872"/>
          </a:xfrm>
          <a:prstGeom prst="ellipse">
            <a:avLst/>
          </a:prstGeom>
          <a:solidFill>
            <a:srgbClr val="A32C2C"/>
          </a:solidFill>
          <a:ln/>
        </p:spPr>
      </p:sp>
      <p:sp>
        <p:nvSpPr>
          <p:cNvPr id="21" name="Text 19"/>
          <p:cNvSpPr/>
          <p:nvPr/>
        </p:nvSpPr>
        <p:spPr>
          <a:xfrm>
            <a:off x="8321040" y="3364992"/>
            <a:ext cx="3300984" cy="237744"/>
          </a:xfrm>
          <a:prstGeom prst="rect">
            <a:avLst/>
          </a:prstGeom>
          <a:noFill/>
          <a:ln/>
        </p:spPr>
        <p:txBody>
          <a:bodyPr wrap="square" lIns="0" tIns="0" rIns="0" bIns="0" rtlCol="0" anchor="ctr"/>
          <a:lstStyle/>
          <a:p>
            <a:pPr indent="0" marL="0">
              <a:buNone/>
            </a:pPr>
            <a:r>
              <a:rPr lang="en-US" sz="950" b="1" spc="150" kern="0" dirty="0">
                <a:solidFill>
                  <a:srgbClr val="A32C2C"/>
                </a:solidFill>
                <a:latin typeface="Calibri" pitchFamily="34" charset="0"/>
                <a:ea typeface="Calibri" pitchFamily="34" charset="-122"/>
                <a:cs typeface="Calibri" pitchFamily="34" charset="-120"/>
              </a:rPr>
              <a:t>FINANCE</a:t>
            </a:r>
            <a:endParaRPr lang="en-US" sz="950" dirty="0"/>
          </a:p>
        </p:txBody>
      </p:sp>
      <p:sp>
        <p:nvSpPr>
          <p:cNvPr id="22" name="Text 20"/>
          <p:cNvSpPr/>
          <p:nvPr/>
        </p:nvSpPr>
        <p:spPr>
          <a:xfrm>
            <a:off x="8321040" y="3657600"/>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Master budget ownership</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Multi-currency cash flow — CFA, Cedi, Naira</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Vendor payment schedules &amp; deposits</a:t>
            </a:r>
            <a:endParaRPr lang="en-US" sz="1000" dirty="0"/>
          </a:p>
        </p:txBody>
      </p:sp>
      <p:sp>
        <p:nvSpPr>
          <p:cNvPr id="23" name="Shape 21"/>
          <p:cNvSpPr/>
          <p:nvPr/>
        </p:nvSpPr>
        <p:spPr>
          <a:xfrm>
            <a:off x="566928" y="4901184"/>
            <a:ext cx="118872" cy="118872"/>
          </a:xfrm>
          <a:prstGeom prst="ellipse">
            <a:avLst/>
          </a:prstGeom>
          <a:solidFill>
            <a:srgbClr val="2E6B3E"/>
          </a:solidFill>
          <a:ln/>
        </p:spPr>
      </p:sp>
      <p:sp>
        <p:nvSpPr>
          <p:cNvPr id="24" name="Text 22"/>
          <p:cNvSpPr/>
          <p:nvPr/>
        </p:nvSpPr>
        <p:spPr>
          <a:xfrm>
            <a:off x="768096" y="4846320"/>
            <a:ext cx="3300984" cy="237744"/>
          </a:xfrm>
          <a:prstGeom prst="rect">
            <a:avLst/>
          </a:prstGeom>
          <a:noFill/>
          <a:ln/>
        </p:spPr>
        <p:txBody>
          <a:bodyPr wrap="square" lIns="0" tIns="0" rIns="0" bIns="0" rtlCol="0" anchor="ctr"/>
          <a:lstStyle/>
          <a:p>
            <a:pPr indent="0" marL="0">
              <a:buNone/>
            </a:pPr>
            <a:r>
              <a:rPr lang="en-US" sz="950" b="1" spc="150" kern="0" dirty="0">
                <a:solidFill>
                  <a:srgbClr val="2E6B3E"/>
                </a:solidFill>
                <a:latin typeface="Calibri" pitchFamily="34" charset="0"/>
                <a:ea typeface="Calibri" pitchFamily="34" charset="-122"/>
                <a:cs typeface="Calibri" pitchFamily="34" charset="-120"/>
              </a:rPr>
              <a:t>FOUNDATION PROGRAMME</a:t>
            </a:r>
            <a:endParaRPr lang="en-US" sz="950" dirty="0"/>
          </a:p>
        </p:txBody>
      </p:sp>
      <p:sp>
        <p:nvSpPr>
          <p:cNvPr id="25" name="Text 23"/>
          <p:cNvSpPr/>
          <p:nvPr/>
        </p:nvSpPr>
        <p:spPr>
          <a:xfrm>
            <a:off x="768096" y="5138928"/>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NGO vetting per country</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Gift &amp; supply procurement</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Consent for filming beneficiaries</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Impact reporting for sponsors</a:t>
            </a:r>
            <a:endParaRPr lang="en-US" sz="1000" dirty="0"/>
          </a:p>
        </p:txBody>
      </p:sp>
      <p:sp>
        <p:nvSpPr>
          <p:cNvPr id="26" name="Shape 24"/>
          <p:cNvSpPr/>
          <p:nvPr/>
        </p:nvSpPr>
        <p:spPr>
          <a:xfrm>
            <a:off x="4343400" y="4901184"/>
            <a:ext cx="118872" cy="118872"/>
          </a:xfrm>
          <a:prstGeom prst="ellipse">
            <a:avLst/>
          </a:prstGeom>
          <a:solidFill>
            <a:srgbClr val="C25E2A"/>
          </a:solidFill>
          <a:ln/>
        </p:spPr>
      </p:sp>
      <p:sp>
        <p:nvSpPr>
          <p:cNvPr id="27" name="Text 25"/>
          <p:cNvSpPr/>
          <p:nvPr/>
        </p:nvSpPr>
        <p:spPr>
          <a:xfrm>
            <a:off x="4544568" y="4846320"/>
            <a:ext cx="3300984" cy="237744"/>
          </a:xfrm>
          <a:prstGeom prst="rect">
            <a:avLst/>
          </a:prstGeom>
          <a:noFill/>
          <a:ln/>
        </p:spPr>
        <p:txBody>
          <a:bodyPr wrap="square" lIns="0" tIns="0" rIns="0" bIns="0" rtlCol="0" anchor="ctr"/>
          <a:lstStyle/>
          <a:p>
            <a:pPr indent="0" marL="0">
              <a:buNone/>
            </a:pPr>
            <a:r>
              <a:rPr lang="en-US" sz="950" b="1" spc="150" kern="0" dirty="0">
                <a:solidFill>
                  <a:srgbClr val="C25E2A"/>
                </a:solidFill>
                <a:latin typeface="Calibri" pitchFamily="34" charset="0"/>
                <a:ea typeface="Calibri" pitchFamily="34" charset="-122"/>
                <a:cs typeface="Calibri" pitchFamily="34" charset="-120"/>
              </a:rPr>
              <a:t>CONTENT OPERATIONS</a:t>
            </a:r>
            <a:endParaRPr lang="en-US" sz="950" dirty="0"/>
          </a:p>
        </p:txBody>
      </p:sp>
      <p:sp>
        <p:nvSpPr>
          <p:cNvPr id="28" name="Text 26"/>
          <p:cNvSpPr/>
          <p:nvPr/>
        </p:nvSpPr>
        <p:spPr>
          <a:xfrm>
            <a:off x="4544568" y="5138928"/>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Posting calendar &amp; platform strategy</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Usage rights and ownership</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Press and media-day management</a:t>
            </a:r>
            <a:endParaRPr lang="en-US" sz="1000" dirty="0"/>
          </a:p>
        </p:txBody>
      </p:sp>
      <p:sp>
        <p:nvSpPr>
          <p:cNvPr id="29" name="Shape 27"/>
          <p:cNvSpPr/>
          <p:nvPr/>
        </p:nvSpPr>
        <p:spPr>
          <a:xfrm>
            <a:off x="8119872" y="4901184"/>
            <a:ext cx="118872" cy="118872"/>
          </a:xfrm>
          <a:prstGeom prst="ellipse">
            <a:avLst/>
          </a:prstGeom>
          <a:solidFill>
            <a:srgbClr val="A32C2C"/>
          </a:solidFill>
          <a:ln/>
        </p:spPr>
      </p:sp>
      <p:sp>
        <p:nvSpPr>
          <p:cNvPr id="30" name="Text 28"/>
          <p:cNvSpPr/>
          <p:nvPr/>
        </p:nvSpPr>
        <p:spPr>
          <a:xfrm>
            <a:off x="8321040" y="4846320"/>
            <a:ext cx="3300984" cy="237744"/>
          </a:xfrm>
          <a:prstGeom prst="rect">
            <a:avLst/>
          </a:prstGeom>
          <a:noFill/>
          <a:ln/>
        </p:spPr>
        <p:txBody>
          <a:bodyPr wrap="square" lIns="0" tIns="0" rIns="0" bIns="0" rtlCol="0" anchor="ctr"/>
          <a:lstStyle/>
          <a:p>
            <a:pPr indent="0" marL="0">
              <a:buNone/>
            </a:pPr>
            <a:r>
              <a:rPr lang="en-US" sz="950" b="1" spc="150" kern="0" dirty="0">
                <a:solidFill>
                  <a:srgbClr val="A32C2C"/>
                </a:solidFill>
                <a:latin typeface="Calibri" pitchFamily="34" charset="0"/>
                <a:ea typeface="Calibri" pitchFamily="34" charset="-122"/>
                <a:cs typeface="Calibri" pitchFamily="34" charset="-120"/>
              </a:rPr>
              <a:t>WRAP-UP</a:t>
            </a:r>
            <a:endParaRPr lang="en-US" sz="950" dirty="0"/>
          </a:p>
        </p:txBody>
      </p:sp>
      <p:sp>
        <p:nvSpPr>
          <p:cNvPr id="31" name="Text 29"/>
          <p:cNvSpPr/>
          <p:nvPr/>
        </p:nvSpPr>
        <p:spPr>
          <a:xfrm>
            <a:off x="8321040" y="5138928"/>
            <a:ext cx="3191256" cy="1078992"/>
          </a:xfrm>
          <a:prstGeom prst="rect">
            <a:avLst/>
          </a:prstGeom>
          <a:noFill/>
          <a:ln/>
        </p:spPr>
        <p:txBody>
          <a:bodyPr wrap="square" lIns="0" tIns="0" rIns="0" bIns="0" rtlCol="0" anchor="t"/>
          <a:lstStyle/>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Post-tour sponsor reporting deck</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Talent payment reconciliation</a:t>
            </a:r>
            <a:endParaRPr lang="en-US" sz="1000" dirty="0"/>
          </a:p>
          <a:p>
            <a:pPr marL="342900" indent="-342900">
              <a:lnSpc>
                <a:spcPts val="1300"/>
              </a:lnSpc>
              <a:spcAft>
                <a:spcPts val="300"/>
              </a:spcAft>
              <a:buSzPct val="100000"/>
              <a:buChar char="•"/>
            </a:pPr>
            <a:r>
              <a:rPr lang="en-US" sz="1000" dirty="0">
                <a:solidFill>
                  <a:srgbClr val="3A3038"/>
                </a:solidFill>
                <a:latin typeface="Calibri" pitchFamily="34" charset="0"/>
                <a:ea typeface="Calibri" pitchFamily="34" charset="-122"/>
                <a:cs typeface="Calibri" pitchFamily="34" charset="-120"/>
              </a:rPr>
              <a:t>Debrief and archive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260" kern="0" dirty="0">
                <a:solidFill>
                  <a:srgbClr val="C9992B"/>
                </a:solidFill>
                <a:latin typeface="Calibri" pitchFamily="34" charset="0"/>
                <a:ea typeface="Calibri" pitchFamily="34" charset="-122"/>
                <a:cs typeface="Calibri" pitchFamily="34" charset="-120"/>
              </a:rPr>
              <a:t>WHAT HAPPENS NEXT</a:t>
            </a:r>
            <a:endParaRPr lang="en-US" sz="1050" dirty="0"/>
          </a:p>
        </p:txBody>
      </p:sp>
      <p:sp>
        <p:nvSpPr>
          <p:cNvPr id="3" name="Text 1"/>
          <p:cNvSpPr/>
          <p:nvPr/>
        </p:nvSpPr>
        <p:spPr>
          <a:xfrm>
            <a:off x="566928" y="658368"/>
            <a:ext cx="11055096" cy="566928"/>
          </a:xfrm>
          <a:prstGeom prst="rect">
            <a:avLst/>
          </a:prstGeom>
          <a:noFill/>
          <a:ln/>
        </p:spPr>
        <p:txBody>
          <a:bodyPr wrap="square" lIns="0" tIns="0" rIns="0" bIns="0" rtlCol="0" anchor="ctr"/>
          <a:lstStyle/>
          <a:p>
            <a:pPr indent="0" marL="0">
              <a:buNone/>
            </a:pPr>
            <a:r>
              <a:rPr lang="en-US" sz="3300" b="1" dirty="0">
                <a:solidFill>
                  <a:srgbClr val="2E1428"/>
                </a:solidFill>
                <a:latin typeface="Cambria" pitchFamily="34" charset="0"/>
                <a:ea typeface="Cambria" pitchFamily="34" charset="-122"/>
                <a:cs typeface="Cambria" pitchFamily="34" charset="-120"/>
              </a:rPr>
              <a:t>Action steps</a:t>
            </a:r>
            <a:endParaRPr lang="en-US" sz="3300" dirty="0"/>
          </a:p>
        </p:txBody>
      </p:sp>
      <p:sp>
        <p:nvSpPr>
          <p:cNvPr id="4" name="Text 2"/>
          <p:cNvSpPr/>
          <p:nvPr/>
        </p:nvSpPr>
        <p:spPr>
          <a:xfrm>
            <a:off x="566928" y="1243584"/>
            <a:ext cx="10689336" cy="365760"/>
          </a:xfrm>
          <a:prstGeom prst="rect">
            <a:avLst/>
          </a:prstGeom>
          <a:noFill/>
          <a:ln/>
        </p:spPr>
        <p:txBody>
          <a:bodyPr wrap="square" lIns="0" tIns="0" rIns="0" bIns="0" rtlCol="0" anchor="ctr"/>
          <a:lstStyle/>
          <a:p>
            <a:pPr indent="0" marL="0">
              <a:buNone/>
            </a:pPr>
            <a:r>
              <a:rPr lang="en-US" sz="1300" dirty="0">
                <a:solidFill>
                  <a:srgbClr val="7A6E76"/>
                </a:solidFill>
                <a:latin typeface="Calibri" pitchFamily="34" charset="0"/>
                <a:ea typeface="Calibri" pitchFamily="34" charset="-122"/>
                <a:cs typeface="Calibri" pitchFamily="34" charset="-120"/>
              </a:rPr>
              <a:t>Four blocking items, then everything else can run in parallel.</a:t>
            </a:r>
            <a:endParaRPr lang="en-US" sz="1300" dirty="0"/>
          </a:p>
        </p:txBody>
      </p:sp>
      <p:sp>
        <p:nvSpPr>
          <p:cNvPr id="5" name="Text 3"/>
          <p:cNvSpPr/>
          <p:nvPr/>
        </p:nvSpPr>
        <p:spPr>
          <a:xfrm>
            <a:off x="566928" y="1847088"/>
            <a:ext cx="5394960" cy="237744"/>
          </a:xfrm>
          <a:prstGeom prst="rect">
            <a:avLst/>
          </a:prstGeom>
          <a:noFill/>
          <a:ln/>
        </p:spPr>
        <p:txBody>
          <a:bodyPr wrap="square" lIns="0" tIns="0" rIns="0" bIns="0" rtlCol="0" anchor="ctr"/>
          <a:lstStyle/>
          <a:p>
            <a:pPr indent="0" marL="0">
              <a:buNone/>
            </a:pPr>
            <a:r>
              <a:rPr lang="en-US" sz="1000" b="1" spc="180" kern="0" dirty="0">
                <a:solidFill>
                  <a:srgbClr val="9C2C2C"/>
                </a:solidFill>
                <a:latin typeface="Calibri" pitchFamily="34" charset="0"/>
                <a:ea typeface="Calibri" pitchFamily="34" charset="-122"/>
                <a:cs typeface="Calibri" pitchFamily="34" charset="-120"/>
              </a:rPr>
              <a:t>BLOCKING — THIS WEEK</a:t>
            </a:r>
            <a:endParaRPr lang="en-US" sz="1000" dirty="0"/>
          </a:p>
        </p:txBody>
      </p:sp>
      <p:sp>
        <p:nvSpPr>
          <p:cNvPr id="6" name="Shape 4"/>
          <p:cNvSpPr/>
          <p:nvPr/>
        </p:nvSpPr>
        <p:spPr>
          <a:xfrm>
            <a:off x="566928" y="2194560"/>
            <a:ext cx="292608" cy="292608"/>
          </a:xfrm>
          <a:prstGeom prst="ellipse">
            <a:avLst/>
          </a:prstGeom>
          <a:solidFill>
            <a:srgbClr val="C9992B"/>
          </a:solidFill>
          <a:ln/>
        </p:spPr>
      </p:sp>
      <p:sp>
        <p:nvSpPr>
          <p:cNvPr id="7" name="Text 5"/>
          <p:cNvSpPr/>
          <p:nvPr/>
        </p:nvSpPr>
        <p:spPr>
          <a:xfrm>
            <a:off x="566928" y="2194560"/>
            <a:ext cx="292608" cy="292608"/>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87552" y="2176272"/>
            <a:ext cx="4974336" cy="274320"/>
          </a:xfrm>
          <a:prstGeom prst="rect">
            <a:avLst/>
          </a:prstGeom>
          <a:noFill/>
          <a:ln/>
        </p:spPr>
        <p:txBody>
          <a:bodyPr wrap="square" lIns="0" tIns="0" rIns="0" bIns="0" rtlCol="0" anchor="ctr"/>
          <a:lstStyle/>
          <a:p>
            <a:pPr indent="0" marL="0">
              <a:buNone/>
            </a:pPr>
            <a:r>
              <a:rPr lang="en-US" sz="1350" b="1" dirty="0">
                <a:solidFill>
                  <a:srgbClr val="2E1428"/>
                </a:solidFill>
                <a:latin typeface="Cambria" pitchFamily="34" charset="0"/>
                <a:ea typeface="Cambria" pitchFamily="34" charset="-122"/>
                <a:cs typeface="Cambria" pitchFamily="34" charset="-120"/>
              </a:rPr>
              <a:t>Confirm the concept with Olivia</a:t>
            </a:r>
            <a:endParaRPr lang="en-US" sz="1350" dirty="0"/>
          </a:p>
        </p:txBody>
      </p:sp>
      <p:sp>
        <p:nvSpPr>
          <p:cNvPr id="9" name="Text 7"/>
          <p:cNvSpPr/>
          <p:nvPr/>
        </p:nvSpPr>
        <p:spPr>
          <a:xfrm>
            <a:off x="987552" y="2450592"/>
            <a:ext cx="4937760" cy="512064"/>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Purpose, ownership, funding, and what “Minister of Enjoyment” means in practice.</a:t>
            </a:r>
            <a:endParaRPr lang="en-US" sz="1050" dirty="0"/>
          </a:p>
        </p:txBody>
      </p:sp>
      <p:sp>
        <p:nvSpPr>
          <p:cNvPr id="10" name="Shape 8"/>
          <p:cNvSpPr/>
          <p:nvPr/>
        </p:nvSpPr>
        <p:spPr>
          <a:xfrm>
            <a:off x="566928" y="3054096"/>
            <a:ext cx="292608" cy="292608"/>
          </a:xfrm>
          <a:prstGeom prst="ellipse">
            <a:avLst/>
          </a:prstGeom>
          <a:solidFill>
            <a:srgbClr val="C9992B"/>
          </a:solidFill>
          <a:ln/>
        </p:spPr>
      </p:sp>
      <p:sp>
        <p:nvSpPr>
          <p:cNvPr id="11" name="Text 9"/>
          <p:cNvSpPr/>
          <p:nvPr/>
        </p:nvSpPr>
        <p:spPr>
          <a:xfrm>
            <a:off x="566928" y="3054096"/>
            <a:ext cx="292608" cy="292608"/>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987552" y="3035808"/>
            <a:ext cx="4974336" cy="274320"/>
          </a:xfrm>
          <a:prstGeom prst="rect">
            <a:avLst/>
          </a:prstGeom>
          <a:noFill/>
          <a:ln/>
        </p:spPr>
        <p:txBody>
          <a:bodyPr wrap="square" lIns="0" tIns="0" rIns="0" bIns="0" rtlCol="0" anchor="ctr"/>
          <a:lstStyle/>
          <a:p>
            <a:pPr indent="0" marL="0">
              <a:buNone/>
            </a:pPr>
            <a:r>
              <a:rPr lang="en-US" sz="1350" b="1" dirty="0">
                <a:solidFill>
                  <a:srgbClr val="2E1428"/>
                </a:solidFill>
                <a:latin typeface="Cambria" pitchFamily="34" charset="0"/>
                <a:ea typeface="Cambria" pitchFamily="34" charset="-122"/>
                <a:cs typeface="Cambria" pitchFamily="34" charset="-120"/>
              </a:rPr>
              <a:t>Send the roster corrections</a:t>
            </a:r>
            <a:endParaRPr lang="en-US" sz="1350" dirty="0"/>
          </a:p>
        </p:txBody>
      </p:sp>
      <p:sp>
        <p:nvSpPr>
          <p:cNvPr id="13" name="Text 11"/>
          <p:cNvSpPr/>
          <p:nvPr/>
        </p:nvSpPr>
        <p:spPr>
          <a:xfrm>
            <a:off x="987552" y="3310128"/>
            <a:ext cx="4937760" cy="512064"/>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Title swap, three untitled names, “Tai”, and the “+1 Angelique” ambiguity.</a:t>
            </a:r>
            <a:endParaRPr lang="en-US" sz="1050" dirty="0"/>
          </a:p>
        </p:txBody>
      </p:sp>
      <p:sp>
        <p:nvSpPr>
          <p:cNvPr id="14" name="Shape 12"/>
          <p:cNvSpPr/>
          <p:nvPr/>
        </p:nvSpPr>
        <p:spPr>
          <a:xfrm>
            <a:off x="566928" y="3913632"/>
            <a:ext cx="292608" cy="292608"/>
          </a:xfrm>
          <a:prstGeom prst="ellipse">
            <a:avLst/>
          </a:prstGeom>
          <a:solidFill>
            <a:srgbClr val="C9992B"/>
          </a:solidFill>
          <a:ln/>
        </p:spPr>
      </p:sp>
      <p:sp>
        <p:nvSpPr>
          <p:cNvPr id="15" name="Text 13"/>
          <p:cNvSpPr/>
          <p:nvPr/>
        </p:nvSpPr>
        <p:spPr>
          <a:xfrm>
            <a:off x="566928" y="3913632"/>
            <a:ext cx="292608" cy="292608"/>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987552" y="3895344"/>
            <a:ext cx="4974336" cy="274320"/>
          </a:xfrm>
          <a:prstGeom prst="rect">
            <a:avLst/>
          </a:prstGeom>
          <a:noFill/>
          <a:ln/>
        </p:spPr>
        <p:txBody>
          <a:bodyPr wrap="square" lIns="0" tIns="0" rIns="0" bIns="0" rtlCol="0" anchor="ctr"/>
          <a:lstStyle/>
          <a:p>
            <a:pPr indent="0" marL="0">
              <a:buNone/>
            </a:pPr>
            <a:r>
              <a:rPr lang="en-US" sz="1350" b="1" dirty="0">
                <a:solidFill>
                  <a:srgbClr val="2E1428"/>
                </a:solidFill>
                <a:latin typeface="Cambria" pitchFamily="34" charset="0"/>
                <a:ea typeface="Cambria" pitchFamily="34" charset="-122"/>
                <a:cs typeface="Cambria" pitchFamily="34" charset="-120"/>
              </a:rPr>
              <a:t>Lock Ghana cities and dates</a:t>
            </a:r>
            <a:endParaRPr lang="en-US" sz="1350" dirty="0"/>
          </a:p>
        </p:txBody>
      </p:sp>
      <p:sp>
        <p:nvSpPr>
          <p:cNvPr id="17" name="Text 15"/>
          <p:cNvSpPr/>
          <p:nvPr/>
        </p:nvSpPr>
        <p:spPr>
          <a:xfrm>
            <a:off x="987552" y="4169664"/>
            <a:ext cx="4937760" cy="512064"/>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Hotels, sponsors and RSVPs there are all downstream of this.</a:t>
            </a:r>
            <a:endParaRPr lang="en-US" sz="1050" dirty="0"/>
          </a:p>
        </p:txBody>
      </p:sp>
      <p:sp>
        <p:nvSpPr>
          <p:cNvPr id="18" name="Shape 16"/>
          <p:cNvSpPr/>
          <p:nvPr/>
        </p:nvSpPr>
        <p:spPr>
          <a:xfrm>
            <a:off x="566928" y="4773168"/>
            <a:ext cx="292608" cy="292608"/>
          </a:xfrm>
          <a:prstGeom prst="ellipse">
            <a:avLst/>
          </a:prstGeom>
          <a:solidFill>
            <a:srgbClr val="C9992B"/>
          </a:solidFill>
          <a:ln/>
        </p:spPr>
      </p:sp>
      <p:sp>
        <p:nvSpPr>
          <p:cNvPr id="19" name="Text 17"/>
          <p:cNvSpPr/>
          <p:nvPr/>
        </p:nvSpPr>
        <p:spPr>
          <a:xfrm>
            <a:off x="566928" y="4773168"/>
            <a:ext cx="292608" cy="292608"/>
          </a:xfrm>
          <a:prstGeom prst="rect">
            <a:avLst/>
          </a:prstGeom>
          <a:noFill/>
          <a:ln/>
        </p:spPr>
        <p:txBody>
          <a:bodyPr wrap="square" lIns="0" tIns="0" rIns="0" bIns="0" rtlCol="0" anchor="ctr"/>
          <a:lstStyle/>
          <a:p>
            <a:pPr algn="ctr" indent="0" marL="0">
              <a:buNone/>
            </a:pPr>
            <a:r>
              <a:rPr lang="en-US" sz="1200" b="1" dirty="0">
                <a:solidFill>
                  <a:srgbClr val="2E1428"/>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987552" y="4754880"/>
            <a:ext cx="4974336" cy="274320"/>
          </a:xfrm>
          <a:prstGeom prst="rect">
            <a:avLst/>
          </a:prstGeom>
          <a:noFill/>
          <a:ln/>
        </p:spPr>
        <p:txBody>
          <a:bodyPr wrap="square" lIns="0" tIns="0" rIns="0" bIns="0" rtlCol="0" anchor="ctr"/>
          <a:lstStyle/>
          <a:p>
            <a:pPr indent="0" marL="0">
              <a:buNone/>
            </a:pPr>
            <a:r>
              <a:rPr lang="en-US" sz="1350" b="1" dirty="0">
                <a:solidFill>
                  <a:srgbClr val="2E1428"/>
                </a:solidFill>
                <a:latin typeface="Cambria" pitchFamily="34" charset="0"/>
                <a:ea typeface="Cambria" pitchFamily="34" charset="-122"/>
                <a:cs typeface="Cambria" pitchFamily="34" charset="-120"/>
              </a:rPr>
              <a:t>Set the budget ceiling and paying client</a:t>
            </a:r>
            <a:endParaRPr lang="en-US" sz="1350" dirty="0"/>
          </a:p>
        </p:txBody>
      </p:sp>
      <p:sp>
        <p:nvSpPr>
          <p:cNvPr id="21" name="Text 19"/>
          <p:cNvSpPr/>
          <p:nvPr/>
        </p:nvSpPr>
        <p:spPr>
          <a:xfrm>
            <a:off x="987552" y="5029200"/>
            <a:ext cx="4937760" cy="512064"/>
          </a:xfrm>
          <a:prstGeom prst="rect">
            <a:avLst/>
          </a:prstGeom>
          <a:noFill/>
          <a:ln/>
        </p:spPr>
        <p:txBody>
          <a:bodyPr wrap="square" lIns="0" tIns="0" rIns="0" bIns="0" rtlCol="0" anchor="t"/>
          <a:lstStyle/>
          <a:p>
            <a:pPr indent="0" marL="0">
              <a:lnSpc>
                <a:spcPts val="1300"/>
              </a:lnSpc>
              <a:buNone/>
            </a:pPr>
            <a:r>
              <a:rPr lang="en-US" sz="1050" dirty="0">
                <a:solidFill>
                  <a:srgbClr val="7A6E76"/>
                </a:solidFill>
                <a:latin typeface="Calibri" pitchFamily="34" charset="0"/>
                <a:ea typeface="Calibri" pitchFamily="34" charset="-122"/>
                <a:cs typeface="Calibri" pitchFamily="34" charset="-120"/>
              </a:rPr>
              <a:t>Sponsor pitches and vendor talks cannot really start without it.</a:t>
            </a:r>
            <a:endParaRPr lang="en-US" sz="1050" dirty="0"/>
          </a:p>
        </p:txBody>
      </p:sp>
      <p:sp>
        <p:nvSpPr>
          <p:cNvPr id="22" name="Text 20"/>
          <p:cNvSpPr/>
          <p:nvPr/>
        </p:nvSpPr>
        <p:spPr>
          <a:xfrm>
            <a:off x="6510528" y="1847088"/>
            <a:ext cx="5120640" cy="237744"/>
          </a:xfrm>
          <a:prstGeom prst="rect">
            <a:avLst/>
          </a:prstGeom>
          <a:noFill/>
          <a:ln/>
        </p:spPr>
        <p:txBody>
          <a:bodyPr wrap="square" lIns="0" tIns="0" rIns="0" bIns="0" rtlCol="0" anchor="ctr"/>
          <a:lstStyle/>
          <a:p>
            <a:pPr indent="0" marL="0">
              <a:buNone/>
            </a:pPr>
            <a:r>
              <a:rPr lang="en-US" sz="1000" b="1" spc="180" kern="0" dirty="0">
                <a:solidFill>
                  <a:srgbClr val="2E6B3E"/>
                </a:solidFill>
                <a:latin typeface="Calibri" pitchFamily="34" charset="0"/>
                <a:ea typeface="Calibri" pitchFamily="34" charset="-122"/>
                <a:cs typeface="Calibri" pitchFamily="34" charset="-120"/>
              </a:rPr>
              <a:t>IN PARALLEL</a:t>
            </a:r>
            <a:endParaRPr lang="en-US" sz="1000" dirty="0"/>
          </a:p>
        </p:txBody>
      </p:sp>
      <p:sp>
        <p:nvSpPr>
          <p:cNvPr id="23" name="Shape 21"/>
          <p:cNvSpPr/>
          <p:nvPr/>
        </p:nvSpPr>
        <p:spPr>
          <a:xfrm>
            <a:off x="6510528" y="2139696"/>
            <a:ext cx="5111496" cy="3529584"/>
          </a:xfrm>
          <a:prstGeom prst="roundRect">
            <a:avLst>
              <a:gd name="adj" fmla="val 1554"/>
            </a:avLst>
          </a:prstGeom>
          <a:solidFill>
            <a:srgbClr val="F6F2F5"/>
          </a:solidFill>
          <a:ln w="9525">
            <a:solidFill>
              <a:srgbClr val="E4DDE2"/>
            </a:solidFill>
            <a:prstDash val="solid"/>
          </a:ln>
        </p:spPr>
      </p:sp>
      <p:sp>
        <p:nvSpPr>
          <p:cNvPr id="24" name="Text 22"/>
          <p:cNvSpPr/>
          <p:nvPr/>
        </p:nvSpPr>
        <p:spPr>
          <a:xfrm>
            <a:off x="6766560" y="2322576"/>
            <a:ext cx="4599432" cy="3182112"/>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Individual calls with each woman — concept, availability, terms</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Collect handles, follower counts and official media kits</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Passport and visa documentation as confirmations land</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Olivia's local list: Mother Africa organiser, Bassam beach status, sponsor outreach, Côte d'Ivoire foundation partner</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Apply into Ghana Tourism Authority's “December in GH” partner process</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Confirm Lagos NYE flagship status for 2026</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Decide the content production model and size the crew</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Build sponsor decks once talent and route are locked</a:t>
            </a:r>
            <a:endParaRPr lang="en-US" sz="1100" dirty="0"/>
          </a:p>
          <a:p>
            <a:pPr marL="342900" indent="-342900">
              <a:lnSpc>
                <a:spcPts val="1400"/>
              </a:lnSpc>
              <a:spcAft>
                <a:spcPts val="700"/>
              </a:spcAft>
              <a:buSzPct val="100000"/>
              <a:buChar char="•"/>
            </a:pPr>
            <a:r>
              <a:rPr lang="en-US" sz="1100" dirty="0">
                <a:solidFill>
                  <a:srgbClr val="3A3038"/>
                </a:solidFill>
                <a:latin typeface="Calibri" pitchFamily="34" charset="0"/>
                <a:ea typeface="Calibri" pitchFamily="34" charset="-122"/>
                <a:cs typeface="Calibri" pitchFamily="34" charset="-120"/>
              </a:rPr>
              <a:t>Confirm head of security plus two, begin advance planning</a:t>
            </a:r>
            <a:endParaRPr lang="en-US" sz="1100" dirty="0"/>
          </a:p>
        </p:txBody>
      </p:sp>
      <p:sp>
        <p:nvSpPr>
          <p:cNvPr id="25" name="Text 23"/>
          <p:cNvSpPr/>
          <p:nvPr/>
        </p:nvSpPr>
        <p:spPr>
          <a:xfrm>
            <a:off x="566928" y="5815584"/>
            <a:ext cx="11055096" cy="274320"/>
          </a:xfrm>
          <a:prstGeom prst="rect">
            <a:avLst/>
          </a:prstGeom>
          <a:noFill/>
          <a:ln/>
        </p:spPr>
        <p:txBody>
          <a:bodyPr wrap="square" lIns="0" tIns="0" rIns="0" bIns="0" rtlCol="0" anchor="ctr"/>
          <a:lstStyle/>
          <a:p>
            <a:pPr indent="0" marL="0">
              <a:buNone/>
            </a:pPr>
            <a:r>
              <a:rPr lang="en-US" sz="1150" b="1" i="1" dirty="0">
                <a:solidFill>
                  <a:srgbClr val="9C2C2C"/>
                </a:solidFill>
                <a:latin typeface="Calibri" pitchFamily="34" charset="0"/>
                <a:ea typeface="Calibri" pitchFamily="34" charset="-122"/>
                <a:cs typeface="Calibri" pitchFamily="34" charset="-120"/>
              </a:rPr>
              <a:t>Nothing outbound — no sponsor deck, no talent email — until items 1 and 2 are answered.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1428"/>
        </a:solidFill>
      </p:bgPr>
    </p:bg>
    <p:spTree>
      <p:nvGrpSpPr>
        <p:cNvPr id="1" name=""/>
        <p:cNvGrpSpPr/>
        <p:nvPr/>
      </p:nvGrpSpPr>
      <p:grpSpPr>
        <a:xfrm>
          <a:off x="0" y="0"/>
          <a:ext cx="0" cy="0"/>
          <a:chOff x="0" y="0"/>
          <a:chExt cx="0" cy="0"/>
        </a:xfrm>
      </p:grpSpPr>
      <p:sp>
        <p:nvSpPr>
          <p:cNvPr id="2" name="Shape 0"/>
          <p:cNvSpPr/>
          <p:nvPr/>
        </p:nvSpPr>
        <p:spPr>
          <a:xfrm>
            <a:off x="-1371600" y="1920240"/>
            <a:ext cx="4754880" cy="4754880"/>
          </a:xfrm>
          <a:prstGeom prst="ellipse">
            <a:avLst/>
          </a:prstGeom>
          <a:ln w="15875">
            <a:solidFill>
              <a:srgbClr val="4A3320"/>
            </a:solidFill>
            <a:prstDash val="solid"/>
          </a:ln>
        </p:spPr>
      </p:sp>
      <p:sp>
        <p:nvSpPr>
          <p:cNvPr id="3" name="Shape 1"/>
          <p:cNvSpPr/>
          <p:nvPr/>
        </p:nvSpPr>
        <p:spPr>
          <a:xfrm>
            <a:off x="9692640" y="-1097280"/>
            <a:ext cx="4754880" cy="4754880"/>
          </a:xfrm>
          <a:prstGeom prst="ellipse">
            <a:avLst/>
          </a:prstGeom>
          <a:ln w="15875">
            <a:solidFill>
              <a:srgbClr val="4A3320"/>
            </a:solidFill>
            <a:prstDash val="solid"/>
          </a:ln>
        </p:spPr>
      </p:sp>
      <p:sp>
        <p:nvSpPr>
          <p:cNvPr id="4" name="Text 2"/>
          <p:cNvSpPr/>
          <p:nvPr/>
        </p:nvSpPr>
        <p:spPr>
          <a:xfrm>
            <a:off x="2103120" y="2395728"/>
            <a:ext cx="7955280" cy="274320"/>
          </a:xfrm>
          <a:prstGeom prst="rect">
            <a:avLst/>
          </a:prstGeom>
          <a:noFill/>
          <a:ln/>
        </p:spPr>
        <p:txBody>
          <a:bodyPr wrap="square" lIns="0" tIns="0" rIns="0" bIns="0" rtlCol="0" anchor="ctr"/>
          <a:lstStyle/>
          <a:p>
            <a:pPr algn="ctr" indent="0" marL="0">
              <a:buNone/>
            </a:pPr>
            <a:r>
              <a:rPr lang="en-US" sz="1050" b="1" spc="300" kern="0" dirty="0">
                <a:solidFill>
                  <a:srgbClr val="C9992B"/>
                </a:solidFill>
                <a:latin typeface="Calibri" pitchFamily="34" charset="0"/>
                <a:ea typeface="Calibri" pitchFamily="34" charset="-122"/>
                <a:cs typeface="Calibri" pitchFamily="34" charset="-120"/>
              </a:rPr>
              <a:t>THE ONE THING TO SETTLE FIRST</a:t>
            </a:r>
            <a:endParaRPr lang="en-US" sz="1050" dirty="0"/>
          </a:p>
        </p:txBody>
      </p:sp>
      <p:sp>
        <p:nvSpPr>
          <p:cNvPr id="5" name="Text 3"/>
          <p:cNvSpPr/>
          <p:nvPr/>
        </p:nvSpPr>
        <p:spPr>
          <a:xfrm>
            <a:off x="1737360" y="2816352"/>
            <a:ext cx="868680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What is this trip actually for?</a:t>
            </a:r>
            <a:endParaRPr lang="en-US" sz="3800" dirty="0"/>
          </a:p>
        </p:txBody>
      </p:sp>
      <p:sp>
        <p:nvSpPr>
          <p:cNvPr id="6" name="Text 4"/>
          <p:cNvSpPr/>
          <p:nvPr/>
        </p:nvSpPr>
        <p:spPr>
          <a:xfrm>
            <a:off x="2286000" y="3803904"/>
            <a:ext cx="7589520" cy="1005840"/>
          </a:xfrm>
          <a:prstGeom prst="rect">
            <a:avLst/>
          </a:prstGeom>
          <a:noFill/>
          <a:ln/>
        </p:spPr>
        <p:txBody>
          <a:bodyPr wrap="square" lIns="0" tIns="0" rIns="0" bIns="0" rtlCol="0" anchor="t"/>
          <a:lstStyle/>
          <a:p>
            <a:pPr algn="ctr" indent="0" marL="0">
              <a:lnSpc>
                <a:spcPts val="1900"/>
              </a:lnSpc>
              <a:buNone/>
            </a:pPr>
            <a:r>
              <a:rPr lang="en-US" sz="1300" dirty="0">
                <a:solidFill>
                  <a:srgbClr val="C9B6C2"/>
                </a:solidFill>
                <a:latin typeface="Calibri" pitchFamily="34" charset="0"/>
                <a:ea typeface="Calibri" pitchFamily="34" charset="-122"/>
                <a:cs typeface="Calibri" pitchFamily="34" charset="-120"/>
              </a:rPr>
              <a:t>Celebration, tourism promotion, philanthropy, or a commercial content property. They are not mutually exclusive — but one of them has to be the organising idea that the itinerary, the sponsors and the fourteen individual conversations are all built to serve.</a:t>
            </a:r>
            <a:endParaRPr lang="en-US" sz="1300" dirty="0"/>
          </a:p>
        </p:txBody>
      </p:sp>
      <p:sp>
        <p:nvSpPr>
          <p:cNvPr id="7" name="Text 5"/>
          <p:cNvSpPr/>
          <p:nvPr/>
        </p:nvSpPr>
        <p:spPr>
          <a:xfrm>
            <a:off x="2286000" y="4974336"/>
            <a:ext cx="7589520" cy="365760"/>
          </a:xfrm>
          <a:prstGeom prst="rect">
            <a:avLst/>
          </a:prstGeom>
          <a:noFill/>
          <a:ln/>
        </p:spPr>
        <p:txBody>
          <a:bodyPr wrap="square" lIns="0" tIns="0" rIns="0" bIns="0" rtlCol="0" anchor="ctr"/>
          <a:lstStyle/>
          <a:p>
            <a:pPr algn="ctr" indent="0" marL="0">
              <a:buNone/>
            </a:pPr>
            <a:r>
              <a:rPr lang="en-US" sz="1200" i="1" dirty="0">
                <a:solidFill>
                  <a:srgbClr val="E8C766"/>
                </a:solidFill>
                <a:latin typeface="Calibri" pitchFamily="34" charset="0"/>
                <a:ea typeface="Calibri" pitchFamily="34" charset="-122"/>
                <a:cs typeface="Calibri" pitchFamily="34" charset="-120"/>
              </a:rPr>
              <a:t>Answer it with Olivia, and everything else in this deck becomes a scheduling problem.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Detty December — Tour Concept Deck</dc:title>
  <dc:subject>PptxGenJS Presentation</dc:subject>
  <dc:creator>Tour Management</dc:creator>
  <cp:lastModifiedBy>Tour Management</cp:lastModifiedBy>
  <cp:revision>1</cp:revision>
  <dcterms:created xsi:type="dcterms:W3CDTF">2026-08-17T01:03:13Z</dcterms:created>
  <dcterms:modified xsi:type="dcterms:W3CDTF">2026-08-17T01:03:13Z</dcterms:modified>
</cp:coreProperties>
</file>